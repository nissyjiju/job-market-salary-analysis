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60" r:id="rId10"/>
    <p:sldId id="261" r:id="rId11"/>
    <p:sldId id="262" r:id="rId12"/>
    <p:sldId id="263" r:id="rId13"/>
    <p:sldId id="264" r:id="rId14"/>
    <p:sldId id="270" r:id="rId15"/>
    <p:sldId id="265" r:id="rId16"/>
  </p:sldIdLst>
  <p:sldSz cx="18288000" cy="10287000"/>
  <p:notesSz cx="6858000" cy="9144000"/>
  <p:embeddedFontLst>
    <p:embeddedFont>
      <p:font typeface="Atkinson Hyperlegible Bold" panose="020B0604020202020204" charset="0"/>
      <p:regular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</p:embeddedFont>
    <p:embeddedFont>
      <p:font typeface="Poppins Ultra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002799" y="9173708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1"/>
                </a:lnTo>
                <a:lnTo>
                  <a:pt x="0" y="617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81031" y="1257341"/>
            <a:ext cx="6575704" cy="7772318"/>
            <a:chOff x="0" y="0"/>
            <a:chExt cx="937713" cy="11083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7713" cy="1108353"/>
            </a:xfrm>
            <a:custGeom>
              <a:avLst/>
              <a:gdLst/>
              <a:ahLst/>
              <a:cxnLst/>
              <a:rect l="l" t="t" r="r" b="b"/>
              <a:pathLst>
                <a:path w="937713" h="1108353">
                  <a:moveTo>
                    <a:pt x="94188" y="0"/>
                  </a:moveTo>
                  <a:lnTo>
                    <a:pt x="843525" y="0"/>
                  </a:lnTo>
                  <a:cubicBezTo>
                    <a:pt x="868505" y="0"/>
                    <a:pt x="892462" y="9923"/>
                    <a:pt x="910126" y="27587"/>
                  </a:cubicBezTo>
                  <a:cubicBezTo>
                    <a:pt x="927789" y="45251"/>
                    <a:pt x="937713" y="69208"/>
                    <a:pt x="937713" y="94188"/>
                  </a:cubicBezTo>
                  <a:lnTo>
                    <a:pt x="937713" y="1014165"/>
                  </a:lnTo>
                  <a:cubicBezTo>
                    <a:pt x="937713" y="1039145"/>
                    <a:pt x="927789" y="1063102"/>
                    <a:pt x="910126" y="1080766"/>
                  </a:cubicBezTo>
                  <a:cubicBezTo>
                    <a:pt x="892462" y="1098430"/>
                    <a:pt x="868505" y="1108353"/>
                    <a:pt x="843525" y="1108353"/>
                  </a:cubicBezTo>
                  <a:lnTo>
                    <a:pt x="94188" y="1108353"/>
                  </a:lnTo>
                  <a:cubicBezTo>
                    <a:pt x="69208" y="1108353"/>
                    <a:pt x="45251" y="1098430"/>
                    <a:pt x="27587" y="1080766"/>
                  </a:cubicBezTo>
                  <a:cubicBezTo>
                    <a:pt x="9923" y="1063102"/>
                    <a:pt x="0" y="1039145"/>
                    <a:pt x="0" y="1014165"/>
                  </a:cubicBezTo>
                  <a:lnTo>
                    <a:pt x="0" y="94188"/>
                  </a:lnTo>
                  <a:cubicBezTo>
                    <a:pt x="0" y="69208"/>
                    <a:pt x="9923" y="45251"/>
                    <a:pt x="27587" y="27587"/>
                  </a:cubicBezTo>
                  <a:cubicBezTo>
                    <a:pt x="45251" y="9923"/>
                    <a:pt x="69208" y="0"/>
                    <a:pt x="94188" y="0"/>
                  </a:cubicBezTo>
                  <a:close/>
                </a:path>
              </a:pathLst>
            </a:custGeom>
            <a:blipFill>
              <a:blip r:embed="rId4"/>
              <a:stretch>
                <a:fillRect l="-38703" r="-38703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7941119" y="3039023"/>
            <a:ext cx="9610267" cy="228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2"/>
              </a:lnSpc>
            </a:pPr>
            <a:r>
              <a:rPr lang="en-US" sz="5752" b="1" dirty="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Decoding the Dollars: A Python-Based Analysis of Global Salary Trends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9598" y="6285865"/>
            <a:ext cx="8249702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solidFill>
                  <a:schemeClr val="bg1">
                    <a:lumMod val="8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 (EDA) of the Modern Job Market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29359" y="9228363"/>
            <a:ext cx="3429941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Presenter: Nissy Jiju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24775" y="874331"/>
            <a:ext cx="5754249" cy="7190919"/>
            <a:chOff x="0" y="0"/>
            <a:chExt cx="806932" cy="10083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6932" cy="1008399"/>
            </a:xfrm>
            <a:custGeom>
              <a:avLst/>
              <a:gdLst/>
              <a:ahLst/>
              <a:cxnLst/>
              <a:rect l="l" t="t" r="r" b="b"/>
              <a:pathLst>
                <a:path w="806932" h="1008399">
                  <a:moveTo>
                    <a:pt x="107634" y="0"/>
                  </a:moveTo>
                  <a:lnTo>
                    <a:pt x="699298" y="0"/>
                  </a:lnTo>
                  <a:cubicBezTo>
                    <a:pt x="727844" y="0"/>
                    <a:pt x="755221" y="11340"/>
                    <a:pt x="775407" y="31525"/>
                  </a:cubicBezTo>
                  <a:cubicBezTo>
                    <a:pt x="795592" y="51711"/>
                    <a:pt x="806932" y="79088"/>
                    <a:pt x="806932" y="107634"/>
                  </a:cubicBezTo>
                  <a:lnTo>
                    <a:pt x="806932" y="900765"/>
                  </a:lnTo>
                  <a:cubicBezTo>
                    <a:pt x="806932" y="960210"/>
                    <a:pt x="758742" y="1008399"/>
                    <a:pt x="699298" y="1008399"/>
                  </a:cubicBezTo>
                  <a:lnTo>
                    <a:pt x="107634" y="1008399"/>
                  </a:lnTo>
                  <a:cubicBezTo>
                    <a:pt x="79088" y="1008399"/>
                    <a:pt x="51711" y="997059"/>
                    <a:pt x="31525" y="976874"/>
                  </a:cubicBezTo>
                  <a:cubicBezTo>
                    <a:pt x="11340" y="956689"/>
                    <a:pt x="0" y="929312"/>
                    <a:pt x="0" y="900765"/>
                  </a:cubicBezTo>
                  <a:lnTo>
                    <a:pt x="0" y="107634"/>
                  </a:lnTo>
                  <a:cubicBezTo>
                    <a:pt x="0" y="79088"/>
                    <a:pt x="11340" y="51711"/>
                    <a:pt x="31525" y="31525"/>
                  </a:cubicBezTo>
                  <a:cubicBezTo>
                    <a:pt x="51711" y="11340"/>
                    <a:pt x="79088" y="0"/>
                    <a:pt x="107634" y="0"/>
                  </a:cubicBezTo>
                  <a:close/>
                </a:path>
              </a:pathLst>
            </a:custGeom>
            <a:blipFill>
              <a:blip r:embed="rId3"/>
              <a:stretch>
                <a:fillRect l="-96657" r="-4093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</p:grpSp>
      <p:sp>
        <p:nvSpPr>
          <p:cNvPr id="8" name="AutoShape 8"/>
          <p:cNvSpPr/>
          <p:nvPr/>
        </p:nvSpPr>
        <p:spPr>
          <a:xfrm flipV="1">
            <a:off x="0" y="9355437"/>
            <a:ext cx="14449546" cy="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4251134" y="9096249"/>
            <a:ext cx="286001" cy="430662"/>
            <a:chOff x="0" y="0"/>
            <a:chExt cx="812800" cy="12239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1" y="38099"/>
              <a:ext cx="487675" cy="1185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784374"/>
            <a:ext cx="8487068" cy="208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4"/>
              </a:lnSpc>
            </a:pPr>
            <a:r>
              <a:rPr lang="en-US" sz="755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&amp; Objective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231884"/>
            <a:ext cx="11105097" cy="6719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467" lvl="1" indent="-303234" algn="just">
              <a:lnSpc>
                <a:spcPts val="3932"/>
              </a:lnSpc>
              <a:buFont typeface="Arial"/>
              <a:buChar char="•"/>
            </a:pPr>
            <a:r>
              <a:rPr lang="en-US" sz="280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Goal</a:t>
            </a: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To identify the core drivers of compensation in job market.</a:t>
            </a:r>
          </a:p>
          <a:p>
            <a:pPr marL="606467" lvl="1" indent="-303234" algn="just">
              <a:lnSpc>
                <a:spcPts val="3932"/>
              </a:lnSpc>
              <a:buFont typeface="Arial"/>
              <a:buChar char="•"/>
            </a:pPr>
            <a:r>
              <a:rPr lang="en-US" sz="280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Questions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&gt;Job Title: Which roles pay the most and least?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&gt;Experience: How does salary grow with years?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&gt;Education: Do Bachelor, Master, PhD earn differently?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&gt;Skills: Do technical skills or certifications boost pay?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&gt;Industry: Which industries set the highest salaries?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&gt;Does company size make a difference? 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&gt;Location: Which countries/regions offer top salaries?</a:t>
            </a:r>
          </a:p>
          <a:p>
            <a:pPr algn="just">
              <a:lnSpc>
                <a:spcPts val="3932"/>
              </a:lnSpc>
            </a:pPr>
            <a:r>
              <a:rPr lang="en-US" sz="280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&gt;Work Mode: Is remote work paid more than hybrid/on‑site?</a:t>
            </a:r>
          </a:p>
          <a:p>
            <a:pPr algn="just">
              <a:lnSpc>
                <a:spcPts val="3512"/>
              </a:lnSpc>
            </a:pPr>
            <a:endParaRPr lang="en-US" sz="280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2"/>
              </a:lnSpc>
            </a:pPr>
            <a:endParaRPr lang="en-US" sz="280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52"/>
              </a:lnSpc>
              <a:spcBef>
                <a:spcPct val="0"/>
              </a:spcBef>
            </a:pPr>
            <a:endParaRPr lang="en-US" sz="2809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585975" y="2172774"/>
            <a:ext cx="5902319" cy="5902319"/>
          </a:xfrm>
          <a:custGeom>
            <a:avLst/>
            <a:gdLst/>
            <a:ahLst/>
            <a:cxnLst/>
            <a:rect l="l" t="t" r="r" b="b"/>
            <a:pathLst>
              <a:path w="5902319" h="5902319">
                <a:moveTo>
                  <a:pt x="0" y="0"/>
                </a:moveTo>
                <a:lnTo>
                  <a:pt x="5902320" y="0"/>
                </a:lnTo>
                <a:lnTo>
                  <a:pt x="5902320" y="5902320"/>
                </a:lnTo>
                <a:lnTo>
                  <a:pt x="0" y="5902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076325"/>
            <a:ext cx="8487068" cy="1096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4"/>
              </a:lnSpc>
            </a:pPr>
            <a:r>
              <a:rPr lang="en-US" sz="755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The Tech Stack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1833" y="2651445"/>
            <a:ext cx="9845514" cy="603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6662" lvl="1" indent="-373331" algn="just">
              <a:lnSpc>
                <a:spcPts val="4841"/>
              </a:lnSpc>
              <a:buFont typeface="Arial"/>
              <a:buChar char="•"/>
            </a:pPr>
            <a:r>
              <a:rPr lang="en-US" sz="34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Language: </a:t>
            </a:r>
            <a:r>
              <a:rPr lang="en-US" sz="3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  <a:p>
            <a:pPr marL="746662" lvl="1" indent="-373331" algn="just">
              <a:lnSpc>
                <a:spcPts val="4841"/>
              </a:lnSpc>
              <a:buFont typeface="Arial"/>
              <a:buChar char="•"/>
            </a:pPr>
            <a:r>
              <a:rPr lang="en-US" sz="34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Environment: </a:t>
            </a:r>
            <a:r>
              <a:rPr lang="en-US" sz="3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Jupyter Notebook.</a:t>
            </a:r>
          </a:p>
          <a:p>
            <a:pPr marL="746662" lvl="1" indent="-373331" algn="just">
              <a:lnSpc>
                <a:spcPts val="4841"/>
              </a:lnSpc>
              <a:buFont typeface="Arial"/>
              <a:buChar char="•"/>
            </a:pPr>
            <a:r>
              <a:rPr lang="en-US" sz="34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Libraries Used:</a:t>
            </a:r>
            <a:r>
              <a:rPr lang="en-US" sz="3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841"/>
              </a:lnSpc>
            </a:pPr>
            <a:endParaRPr lang="en-US" sz="34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841"/>
              </a:lnSpc>
            </a:pPr>
            <a:r>
              <a:rPr lang="en-US" sz="3458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Pandas &amp; NumPy:</a:t>
            </a:r>
            <a:r>
              <a:rPr lang="en-US" sz="3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Data cleaning and  manipulation.</a:t>
            </a:r>
          </a:p>
          <a:p>
            <a:pPr algn="just">
              <a:lnSpc>
                <a:spcPts val="4841"/>
              </a:lnSpc>
            </a:pPr>
            <a:r>
              <a:rPr lang="en-US" sz="3458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Matplotlib &amp; Seaborn:</a:t>
            </a:r>
            <a:r>
              <a:rPr lang="en-US" sz="34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static, high-fidelity visualizations.</a:t>
            </a:r>
          </a:p>
          <a:p>
            <a:pPr algn="just">
              <a:lnSpc>
                <a:spcPts val="4841"/>
              </a:lnSpc>
            </a:pPr>
            <a:endParaRPr lang="en-US" sz="34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222"/>
              </a:lnSpc>
              <a:spcBef>
                <a:spcPct val="0"/>
              </a:spcBef>
            </a:pPr>
            <a:endParaRPr lang="en-US" sz="345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4251134" y="9096249"/>
            <a:ext cx="286001" cy="28600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85975" y="1028700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32">
                <a:alpha val="100000"/>
              </a:srgbClr>
            </a:gs>
            <a:gs pos="100000">
              <a:srgbClr val="00149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63200" y="1775073"/>
            <a:ext cx="7098522" cy="7098522"/>
          </a:xfrm>
          <a:custGeom>
            <a:avLst/>
            <a:gdLst/>
            <a:ahLst/>
            <a:cxnLst/>
            <a:rect l="l" t="t" r="r" b="b"/>
            <a:pathLst>
              <a:path w="7098522" h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8601" y="475590"/>
            <a:ext cx="8229600" cy="1290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70"/>
              </a:lnSpc>
            </a:pPr>
            <a:r>
              <a:rPr lang="en-US" sz="755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1943100"/>
            <a:ext cx="8953500" cy="7523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6931" indent="-742950" algn="just">
              <a:lnSpc>
                <a:spcPts val="5332"/>
              </a:lnSpc>
              <a:buAutoNum type="arabicPeriod"/>
            </a:pPr>
            <a:r>
              <a:rPr lang="en-IN" sz="3870" b="1" dirty="0">
                <a:solidFill>
                  <a:schemeClr val="bg1"/>
                </a:solidFill>
              </a:rPr>
              <a:t>Dataset Loading &amp; Initial Overview</a:t>
            </a:r>
          </a:p>
          <a:p>
            <a:pPr marL="696931" indent="-742950" algn="just">
              <a:lnSpc>
                <a:spcPts val="5332"/>
              </a:lnSpc>
              <a:buAutoNum type="arabicPeriod"/>
            </a:pPr>
            <a:r>
              <a:rPr lang="en-IN" sz="3870" b="1" dirty="0">
                <a:solidFill>
                  <a:schemeClr val="bg1"/>
                </a:solidFill>
              </a:rPr>
              <a:t>Data Pre-processing</a:t>
            </a:r>
          </a:p>
          <a:p>
            <a:pPr marL="411181" lvl="1" algn="just">
              <a:lnSpc>
                <a:spcPts val="5332"/>
              </a:lnSpc>
            </a:pPr>
            <a:r>
              <a:rPr lang="en-IN" sz="3870" dirty="0">
                <a:solidFill>
                  <a:schemeClr val="bg1"/>
                </a:solidFill>
              </a:rPr>
              <a:t>       ○ Handling missing values </a:t>
            </a:r>
          </a:p>
          <a:p>
            <a:pPr marL="411181" lvl="1" algn="just">
              <a:lnSpc>
                <a:spcPts val="5332"/>
              </a:lnSpc>
            </a:pPr>
            <a:r>
              <a:rPr lang="en-IN" sz="3870" dirty="0">
                <a:solidFill>
                  <a:schemeClr val="bg1"/>
                </a:solidFill>
              </a:rPr>
              <a:t>       ○ Removing duplicates </a:t>
            </a:r>
          </a:p>
          <a:p>
            <a:pPr marL="411181" lvl="1" algn="just">
              <a:lnSpc>
                <a:spcPts val="5332"/>
              </a:lnSpc>
            </a:pPr>
            <a:r>
              <a:rPr lang="en-IN" sz="3870" dirty="0">
                <a:solidFill>
                  <a:schemeClr val="bg1"/>
                </a:solidFill>
              </a:rPr>
              <a:t>       ○ Correcting data types </a:t>
            </a:r>
          </a:p>
          <a:p>
            <a:pPr marL="411181" lvl="1" algn="just">
              <a:lnSpc>
                <a:spcPts val="5332"/>
              </a:lnSpc>
            </a:pPr>
            <a:r>
              <a:rPr lang="en-IN" sz="3870" dirty="0">
                <a:solidFill>
                  <a:schemeClr val="bg1"/>
                </a:solidFill>
              </a:rPr>
              <a:t>       ○ Creating derived columns </a:t>
            </a:r>
          </a:p>
          <a:p>
            <a:pPr marL="411181" lvl="1" algn="just">
              <a:lnSpc>
                <a:spcPts val="5332"/>
              </a:lnSpc>
            </a:pPr>
            <a:r>
              <a:rPr lang="en-IN" sz="3870" dirty="0">
                <a:solidFill>
                  <a:schemeClr val="bg1"/>
                </a:solidFill>
              </a:rPr>
              <a:t>       ○ Filtering or aggregating data</a:t>
            </a:r>
          </a:p>
          <a:p>
            <a:pPr marL="411181" lvl="1" algn="just">
              <a:lnSpc>
                <a:spcPts val="5332"/>
              </a:lnSpc>
            </a:pPr>
            <a:r>
              <a:rPr lang="en-IN" sz="3870" dirty="0">
                <a:solidFill>
                  <a:schemeClr val="bg1"/>
                </a:solidFill>
              </a:rPr>
              <a:t> 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  <a:r>
              <a:rPr lang="en-US" sz="3808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Exploratory Data Analysis (EDA)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  <a:endParaRPr lang="en-US" sz="3808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32"/>
              </a:lnSpc>
              <a:spcBef>
                <a:spcPct val="0"/>
              </a:spcBef>
            </a:pPr>
            <a:r>
              <a:rPr lang="en-US" sz="3808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Visualizations  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  <a:endParaRPr lang="en-US" sz="3808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32"/>
              </a:lnSpc>
              <a:spcBef>
                <a:spcPct val="0"/>
              </a:spcBef>
            </a:pPr>
            <a:r>
              <a:rPr lang="en-US" sz="3808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Insight Generation and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32">
                <a:alpha val="100000"/>
              </a:srgbClr>
            </a:gs>
            <a:gs pos="100000">
              <a:srgbClr val="00149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2B0BE-5025-CE6D-DA10-8C97C4B0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E79ECA-6490-692A-0E95-971532661DA2}"/>
              </a:ext>
            </a:extLst>
          </p:cNvPr>
          <p:cNvSpPr/>
          <p:nvPr/>
        </p:nvSpPr>
        <p:spPr>
          <a:xfrm>
            <a:off x="5594739" y="1594239"/>
            <a:ext cx="7098522" cy="7098522"/>
          </a:xfrm>
          <a:custGeom>
            <a:avLst/>
            <a:gdLst/>
            <a:ahLst/>
            <a:cxnLst/>
            <a:rect l="l" t="t" r="r" b="b"/>
            <a:pathLst>
              <a:path w="7098522" h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62CA64B-BE49-6E35-8B3D-53D53A0154E9}"/>
              </a:ext>
            </a:extLst>
          </p:cNvPr>
          <p:cNvSpPr txBox="1"/>
          <p:nvPr/>
        </p:nvSpPr>
        <p:spPr>
          <a:xfrm>
            <a:off x="749596" y="819150"/>
            <a:ext cx="9690285" cy="129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70"/>
              </a:lnSpc>
            </a:pPr>
            <a:r>
              <a:rPr lang="en-US" sz="755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Dataset Overview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4F53E40-7D10-80DB-B5A7-68DB84C96BCD}"/>
              </a:ext>
            </a:extLst>
          </p:cNvPr>
          <p:cNvSpPr txBox="1"/>
          <p:nvPr/>
        </p:nvSpPr>
        <p:spPr>
          <a:xfrm>
            <a:off x="1028700" y="3203309"/>
            <a:ext cx="16230600" cy="518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r>
              <a:rPr lang="en-US" sz="380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Size:</a:t>
            </a:r>
            <a:r>
              <a:rPr lang="en-US" sz="38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250,000 rows × 15 columns</a:t>
            </a: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r>
              <a:rPr lang="en-US" sz="380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Features:</a:t>
            </a:r>
            <a:r>
              <a:rPr lang="en-US" sz="38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Job title, experience years, education level, skills count, industry, company size, location, remote work, certifications, salary</a:t>
            </a: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r>
              <a:rPr lang="en-US" sz="380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Quality:</a:t>
            </a:r>
            <a:r>
              <a:rPr lang="en-US" sz="380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Minor missing values handled, duplicates removed, derived features created (salary bands, experience groups, skill levels).</a:t>
            </a:r>
          </a:p>
          <a:p>
            <a:pPr algn="just">
              <a:lnSpc>
                <a:spcPts val="3232"/>
              </a:lnSpc>
              <a:spcBef>
                <a:spcPct val="0"/>
              </a:spcBef>
            </a:pPr>
            <a:endParaRPr lang="en-US" sz="380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7492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32">
                <a:alpha val="100000"/>
              </a:srgbClr>
            </a:gs>
            <a:gs pos="100000">
              <a:srgbClr val="00149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7CBA7-54D4-8DBB-B89B-59579526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D18F94-BABF-55C4-D5BD-543F655C4D60}"/>
              </a:ext>
            </a:extLst>
          </p:cNvPr>
          <p:cNvSpPr/>
          <p:nvPr/>
        </p:nvSpPr>
        <p:spPr>
          <a:xfrm>
            <a:off x="5594739" y="1594239"/>
            <a:ext cx="7098522" cy="7098522"/>
          </a:xfrm>
          <a:custGeom>
            <a:avLst/>
            <a:gdLst/>
            <a:ahLst/>
            <a:cxnLst/>
            <a:rect l="l" t="t" r="r" b="b"/>
            <a:pathLst>
              <a:path w="7098522" h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604666-EFFB-0948-9511-EEAF67A567D5}"/>
              </a:ext>
            </a:extLst>
          </p:cNvPr>
          <p:cNvSpPr txBox="1"/>
          <p:nvPr/>
        </p:nvSpPr>
        <p:spPr>
          <a:xfrm>
            <a:off x="-304800" y="647700"/>
            <a:ext cx="15633404" cy="2649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70"/>
              </a:lnSpc>
            </a:pPr>
            <a:r>
              <a:rPr lang="en-US" sz="7550" b="1" dirty="0">
                <a:solidFill>
                  <a:schemeClr val="bg1"/>
                </a:solidFill>
              </a:rPr>
              <a:t>2. Summary of Data Pre‑processing</a:t>
            </a:r>
          </a:p>
          <a:p>
            <a:pPr algn="ctr">
              <a:lnSpc>
                <a:spcPts val="10570"/>
              </a:lnSpc>
            </a:pPr>
            <a:endParaRPr lang="en-US" sz="755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D11F8C-01A8-B0BB-0C4C-1BB4EC22AADC}"/>
              </a:ext>
            </a:extLst>
          </p:cNvPr>
          <p:cNvSpPr txBox="1"/>
          <p:nvPr/>
        </p:nvSpPr>
        <p:spPr>
          <a:xfrm>
            <a:off x="990600" y="2595784"/>
            <a:ext cx="17030700" cy="679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br>
              <a:rPr lang="en-US" sz="3870" dirty="0">
                <a:solidFill>
                  <a:schemeClr val="bg1"/>
                </a:solidFill>
              </a:rPr>
            </a:br>
            <a:r>
              <a:rPr lang="en-US" sz="3870" b="1" dirty="0">
                <a:solidFill>
                  <a:schemeClr val="bg1"/>
                </a:solidFill>
              </a:rPr>
              <a:t>Cleaning:</a:t>
            </a:r>
            <a:r>
              <a:rPr lang="en-US" sz="3870" dirty="0">
                <a:solidFill>
                  <a:schemeClr val="bg1"/>
                </a:solidFill>
              </a:rPr>
              <a:t> Filled missing values with median; removed duplicates</a:t>
            </a:r>
          </a:p>
          <a:p>
            <a:endParaRPr lang="en-US" sz="3870" dirty="0">
              <a:solidFill>
                <a:schemeClr val="bg1"/>
              </a:solidFill>
            </a:endParaRPr>
          </a:p>
          <a:p>
            <a:r>
              <a:rPr lang="en-US" sz="3870" b="1" dirty="0">
                <a:solidFill>
                  <a:schemeClr val="bg1"/>
                </a:solidFill>
              </a:rPr>
              <a:t>New Features:</a:t>
            </a:r>
            <a:r>
              <a:rPr lang="en-US" sz="3870" dirty="0">
                <a:solidFill>
                  <a:schemeClr val="bg1"/>
                </a:solidFill>
              </a:rPr>
              <a:t> Salary range category, experience bracket</a:t>
            </a:r>
          </a:p>
          <a:p>
            <a:endParaRPr lang="en-US" sz="3870" dirty="0">
              <a:solidFill>
                <a:schemeClr val="bg1"/>
              </a:solidFill>
            </a:endParaRPr>
          </a:p>
          <a:p>
            <a:r>
              <a:rPr lang="en-US" sz="3870" b="1" dirty="0">
                <a:solidFill>
                  <a:schemeClr val="bg1"/>
                </a:solidFill>
              </a:rPr>
              <a:t>Filtering &amp; Aggregation:</a:t>
            </a:r>
            <a:r>
              <a:rPr lang="en-US" sz="3870" dirty="0">
                <a:solidFill>
                  <a:schemeClr val="bg1"/>
                </a:solidFill>
              </a:rPr>
              <a:t> Employee counts by job title; average salary by education</a:t>
            </a:r>
          </a:p>
          <a:p>
            <a:r>
              <a:rPr lang="en-US" sz="3870" b="1" dirty="0">
                <a:solidFill>
                  <a:schemeClr val="bg1"/>
                </a:solidFill>
              </a:rPr>
              <a:t>Current Dataset:</a:t>
            </a:r>
            <a:r>
              <a:rPr lang="en-US" sz="3870" dirty="0">
                <a:solidFill>
                  <a:schemeClr val="bg1"/>
                </a:solidFill>
              </a:rPr>
              <a:t> 250,000 rows × 16 columns</a:t>
            </a:r>
          </a:p>
          <a:p>
            <a:pPr marL="411181" lvl="1" algn="just">
              <a:lnSpc>
                <a:spcPts val="5332"/>
              </a:lnSpc>
            </a:pPr>
            <a:endParaRPr lang="en-IN" sz="2400" b="1" dirty="0">
              <a:solidFill>
                <a:srgbClr val="FFFFFF"/>
              </a:solidFill>
              <a:latin typeface="+mj-lt"/>
              <a:cs typeface="Poppins Bold"/>
            </a:endParaRP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IN" dirty="0"/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US" sz="3808" b="1" dirty="0">
              <a:solidFill>
                <a:srgbClr val="FFFFFF"/>
              </a:solidFill>
              <a:latin typeface="Poppins Bold"/>
              <a:cs typeface="Poppins Bold"/>
            </a:endParaRP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88860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32">
                <a:alpha val="100000"/>
              </a:srgbClr>
            </a:gs>
            <a:gs pos="100000">
              <a:srgbClr val="00149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AA855-6F48-3657-9245-9D62F552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E8930B-4218-4403-717A-888783414F7B}"/>
              </a:ext>
            </a:extLst>
          </p:cNvPr>
          <p:cNvSpPr/>
          <p:nvPr/>
        </p:nvSpPr>
        <p:spPr>
          <a:xfrm>
            <a:off x="5594739" y="1594239"/>
            <a:ext cx="7098522" cy="7098522"/>
          </a:xfrm>
          <a:custGeom>
            <a:avLst/>
            <a:gdLst/>
            <a:ahLst/>
            <a:cxnLst/>
            <a:rect l="l" t="t" r="r" b="b"/>
            <a:pathLst>
              <a:path w="7098522" h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9053814-1240-DF29-4424-51F28486E7D1}"/>
              </a:ext>
            </a:extLst>
          </p:cNvPr>
          <p:cNvSpPr txBox="1"/>
          <p:nvPr/>
        </p:nvSpPr>
        <p:spPr>
          <a:xfrm>
            <a:off x="685800" y="606893"/>
            <a:ext cx="8458200" cy="1287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70"/>
              </a:lnSpc>
            </a:pPr>
            <a:r>
              <a:rPr lang="en-US" sz="7550" b="1" dirty="0">
                <a:solidFill>
                  <a:schemeClr val="bg1"/>
                </a:solidFill>
              </a:rPr>
              <a:t>3. Summary of EDA</a:t>
            </a:r>
            <a:endParaRPr lang="en-US" sz="755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C185B50-F633-955F-48FC-AEEBB27A9884}"/>
              </a:ext>
            </a:extLst>
          </p:cNvPr>
          <p:cNvSpPr txBox="1"/>
          <p:nvPr/>
        </p:nvSpPr>
        <p:spPr>
          <a:xfrm>
            <a:off x="708764" y="2171700"/>
            <a:ext cx="17030700" cy="9426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Experience: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Strongest driver of salary outcomes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Education: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Significant boost, especially PhD/Master levels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Job Title &amp; Company Size: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Major differentiators in pay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Industry: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Maxima vary, but averages remain flatter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Remote Work: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Offers a slight premium across regions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Certifications &amp; Skills: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Add incremental value, but less impactful than experience or education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Outliers: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Present at the high end, but do not distort overall trends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chemeClr val="accent3">
                    <a:lumMod val="75000"/>
                  </a:schemeClr>
                </a:solidFill>
                <a:cs typeface="Poppins Bold"/>
              </a:rPr>
              <a:t>Correlation Matrix: 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Confirms logical relationships among predictors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Location: Critical factor — USA/Canada/UK lead, India lowest, Remote amplifies regional differences</a:t>
            </a:r>
            <a:endParaRPr lang="en-IN" sz="3400" b="1" dirty="0">
              <a:solidFill>
                <a:srgbClr val="FFFFFF"/>
              </a:solidFill>
              <a:cs typeface="Poppins Bold"/>
            </a:endParaRP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IN" dirty="0"/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US" sz="3808" b="1" dirty="0">
              <a:solidFill>
                <a:srgbClr val="FFFFFF"/>
              </a:solidFill>
              <a:latin typeface="Poppins Bold"/>
              <a:cs typeface="Poppins Bold"/>
            </a:endParaRP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682642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D32">
                <a:alpha val="100000"/>
              </a:srgbClr>
            </a:gs>
            <a:gs pos="100000">
              <a:srgbClr val="001496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FDDE1-A5BE-4042-62D6-2CB89E17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2E7B5F-A95E-8393-A347-A7047B237BFC}"/>
              </a:ext>
            </a:extLst>
          </p:cNvPr>
          <p:cNvSpPr/>
          <p:nvPr/>
        </p:nvSpPr>
        <p:spPr>
          <a:xfrm>
            <a:off x="10503678" y="1878776"/>
            <a:ext cx="7098522" cy="7098522"/>
          </a:xfrm>
          <a:custGeom>
            <a:avLst/>
            <a:gdLst/>
            <a:ahLst/>
            <a:cxnLst/>
            <a:rect l="l" t="t" r="r" b="b"/>
            <a:pathLst>
              <a:path w="7098522" h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5F31347-1CA5-E574-B649-39748EC06F06}"/>
              </a:ext>
            </a:extLst>
          </p:cNvPr>
          <p:cNvSpPr txBox="1"/>
          <p:nvPr/>
        </p:nvSpPr>
        <p:spPr>
          <a:xfrm>
            <a:off x="685800" y="606893"/>
            <a:ext cx="6781800" cy="1287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70"/>
              </a:lnSpc>
            </a:pPr>
            <a:r>
              <a:rPr lang="en-US" sz="7550" b="1" dirty="0">
                <a:solidFill>
                  <a:schemeClr val="bg1"/>
                </a:solidFill>
              </a:rPr>
              <a:t>4. Visualizations</a:t>
            </a:r>
            <a:endParaRPr lang="en-US" sz="755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B1DF5FA-DAB6-24CF-7263-AD476C9C544A}"/>
              </a:ext>
            </a:extLst>
          </p:cNvPr>
          <p:cNvSpPr txBox="1"/>
          <p:nvPr/>
        </p:nvSpPr>
        <p:spPr>
          <a:xfrm>
            <a:off x="702501" y="2171700"/>
            <a:ext cx="17030700" cy="12145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1. Average Salary by Job Title – Bar plot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2. Salary Spread by Job Title – Box plot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3. Salary Distribution by Education Level – Violin plot 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4. Salary by Education × Job Title – Subplot (</a:t>
            </a:r>
            <a:r>
              <a:rPr lang="en-US" sz="3400" b="1" dirty="0" err="1">
                <a:solidFill>
                  <a:srgbClr val="FFFFFF"/>
                </a:solidFill>
                <a:cs typeface="Poppins Bold"/>
              </a:rPr>
              <a:t>catplot</a:t>
            </a:r>
            <a:r>
              <a:rPr lang="en-US" sz="3400" b="1" dirty="0">
                <a:solidFill>
                  <a:srgbClr val="FFFFFF"/>
                </a:solidFill>
                <a:cs typeface="Poppins Bold"/>
              </a:rPr>
              <a:t>)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5. Salary Trend by Years of Experience – Line chart 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6. Average Salary vs Skills Count – Line chart 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7. Average Salary vs Certifications Count – Line chart 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8. Average vs Max Salary by Industry – Bar plot 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9. Average Salary by Company Size – Scatter plot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10. Salary by Work Mode across Locations – Bar plot </a:t>
            </a:r>
          </a:p>
          <a:p>
            <a:pPr marL="411181" lvl="1" algn="just">
              <a:lnSpc>
                <a:spcPts val="5332"/>
              </a:lnSpc>
            </a:pPr>
            <a:r>
              <a:rPr lang="en-US" sz="3400" b="1" dirty="0">
                <a:solidFill>
                  <a:srgbClr val="FFFFFF"/>
                </a:solidFill>
                <a:cs typeface="Poppins Bold"/>
              </a:rPr>
              <a:t>11. Average Salary Share by Location – Pie chart </a:t>
            </a:r>
          </a:p>
          <a:p>
            <a:pPr marL="411181" lvl="1" algn="just">
              <a:lnSpc>
                <a:spcPts val="5332"/>
              </a:lnSpc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  <a:p>
            <a:pPr marL="411181" lvl="1" algn="just">
              <a:lnSpc>
                <a:spcPts val="5332"/>
              </a:lnSpc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  <a:p>
            <a:pPr marL="411181" lvl="1" algn="just">
              <a:lnSpc>
                <a:spcPts val="5332"/>
              </a:lnSpc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  <a:p>
            <a:pPr marL="411181" lvl="1" algn="just">
              <a:lnSpc>
                <a:spcPts val="5332"/>
              </a:lnSpc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IN" dirty="0"/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US" sz="3808" b="1" dirty="0">
              <a:solidFill>
                <a:srgbClr val="FFFFFF"/>
              </a:solidFill>
              <a:latin typeface="Poppins Bold"/>
              <a:cs typeface="Poppins Bold"/>
            </a:endParaRPr>
          </a:p>
          <a:p>
            <a:pPr marL="822362" lvl="1" indent="-411181" algn="just">
              <a:lnSpc>
                <a:spcPts val="5332"/>
              </a:lnSpc>
              <a:buFont typeface="Arial"/>
              <a:buChar char="•"/>
            </a:pPr>
            <a:endParaRPr lang="en-US" sz="2400" b="1" dirty="0">
              <a:solidFill>
                <a:srgbClr val="FFFFFF"/>
              </a:solidFill>
              <a:latin typeface="+mj-lt"/>
              <a:cs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28312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75308" y="5414607"/>
            <a:ext cx="8545599" cy="4219102"/>
          </a:xfrm>
          <a:custGeom>
            <a:avLst/>
            <a:gdLst/>
            <a:ahLst/>
            <a:cxnLst/>
            <a:rect l="l" t="t" r="r" b="b"/>
            <a:pathLst>
              <a:path w="8545599" h="4219102">
                <a:moveTo>
                  <a:pt x="0" y="0"/>
                </a:moveTo>
                <a:lnTo>
                  <a:pt x="8545599" y="0"/>
                </a:lnTo>
                <a:lnTo>
                  <a:pt x="8545599" y="4219102"/>
                </a:lnTo>
                <a:lnTo>
                  <a:pt x="0" y="4219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72" t="-1084" r="-267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16884" y="5414607"/>
            <a:ext cx="8460732" cy="4219102"/>
          </a:xfrm>
          <a:custGeom>
            <a:avLst/>
            <a:gdLst/>
            <a:ahLst/>
            <a:cxnLst/>
            <a:rect l="l" t="t" r="r" b="b"/>
            <a:pathLst>
              <a:path w="8460732" h="4219102">
                <a:moveTo>
                  <a:pt x="0" y="0"/>
                </a:moveTo>
                <a:lnTo>
                  <a:pt x="8460731" y="0"/>
                </a:lnTo>
                <a:lnTo>
                  <a:pt x="8460731" y="4219102"/>
                </a:lnTo>
                <a:lnTo>
                  <a:pt x="0" y="4219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20" r="-362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96833" y="504448"/>
            <a:ext cx="11894333" cy="1096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753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Experience &amp; Education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2217" y="2136628"/>
            <a:ext cx="16230600" cy="350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Salary vs Experience: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Clear upward trend (0 yrs ≈ $119k → 20 yrs ≈ $173k).</a:t>
            </a:r>
          </a:p>
          <a:p>
            <a:pPr algn="just">
              <a:lnSpc>
                <a:spcPts val="3779"/>
              </a:lnSpc>
            </a:pPr>
            <a:endParaRPr lang="en-US" sz="26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82927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Salary vs Education: 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PhD ≈ $164k &gt; Master ≈ $153k &gt; Bachelor ≈ $142k.</a:t>
            </a:r>
          </a:p>
          <a:p>
            <a:pPr algn="just">
              <a:lnSpc>
                <a:spcPts val="3779"/>
              </a:lnSpc>
            </a:pPr>
            <a:endParaRPr lang="en-US" sz="26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82927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</a:t>
            </a:r>
            <a:r>
              <a:rPr lang="en-US" sz="26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Long‑term experience and advanced degrees are the strongest drivers of salary growth.</a:t>
            </a:r>
          </a:p>
          <a:p>
            <a:pPr algn="just">
              <a:lnSpc>
                <a:spcPts val="2520"/>
              </a:lnSpc>
            </a:pPr>
            <a:endParaRPr lang="en-US" sz="26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26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966785" y="5371752"/>
            <a:ext cx="10354430" cy="4656864"/>
          </a:xfrm>
          <a:custGeom>
            <a:avLst/>
            <a:gdLst/>
            <a:ahLst/>
            <a:cxnLst/>
            <a:rect l="l" t="t" r="r" b="b"/>
            <a:pathLst>
              <a:path w="10354430" h="4656864">
                <a:moveTo>
                  <a:pt x="0" y="0"/>
                </a:moveTo>
                <a:lnTo>
                  <a:pt x="10354430" y="0"/>
                </a:lnTo>
                <a:lnTo>
                  <a:pt x="10354430" y="4656864"/>
                </a:lnTo>
                <a:lnTo>
                  <a:pt x="0" y="4656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0" b="-232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197172" y="504448"/>
            <a:ext cx="4730567" cy="1096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753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Job Titles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156" y="1711339"/>
            <a:ext cx="16230600" cy="346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Highest Paid: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Engineer, ML Engineer, Product Manager.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Lowest Paid: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Analyst, Business Analyst.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and leadership roles command higher compensation compared to analytical support roles.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354163" y="5520910"/>
            <a:ext cx="4905137" cy="4322652"/>
          </a:xfrm>
          <a:custGeom>
            <a:avLst/>
            <a:gdLst/>
            <a:ahLst/>
            <a:cxnLst/>
            <a:rect l="l" t="t" r="r" b="b"/>
            <a:pathLst>
              <a:path w="4905137" h="4322652">
                <a:moveTo>
                  <a:pt x="0" y="0"/>
                </a:moveTo>
                <a:lnTo>
                  <a:pt x="4905137" y="0"/>
                </a:lnTo>
                <a:lnTo>
                  <a:pt x="4905137" y="4322652"/>
                </a:lnTo>
                <a:lnTo>
                  <a:pt x="0" y="4322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5520910"/>
            <a:ext cx="10874596" cy="4322652"/>
          </a:xfrm>
          <a:custGeom>
            <a:avLst/>
            <a:gdLst/>
            <a:ahLst/>
            <a:cxnLst/>
            <a:rect l="l" t="t" r="r" b="b"/>
            <a:pathLst>
              <a:path w="10874596" h="4322652">
                <a:moveTo>
                  <a:pt x="0" y="0"/>
                </a:moveTo>
                <a:lnTo>
                  <a:pt x="10874596" y="0"/>
                </a:lnTo>
                <a:lnTo>
                  <a:pt x="10874596" y="4322652"/>
                </a:lnTo>
                <a:lnTo>
                  <a:pt x="0" y="43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31473" y="500910"/>
            <a:ext cx="11225054" cy="1096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753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Location &amp; Work Mode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749010"/>
            <a:ext cx="16230600" cy="354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Top Locations: 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 (~$182k), Canada (~$167k), UK (~$160k).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Lowest: 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India (~$97k).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 Mode: 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Remote consistently pays more across regions.</a:t>
            </a:r>
          </a:p>
          <a:p>
            <a:pPr algn="just">
              <a:lnSpc>
                <a:spcPts val="3219"/>
              </a:lnSpc>
            </a:pPr>
            <a:endParaRPr lang="en-US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695" lvl="1" indent="-323848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 </a:t>
            </a: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Geography and flexibility strongly influence salary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18796" y="5520910"/>
            <a:ext cx="8392653" cy="4091418"/>
          </a:xfrm>
          <a:custGeom>
            <a:avLst/>
            <a:gdLst/>
            <a:ahLst/>
            <a:cxnLst/>
            <a:rect l="l" t="t" r="r" b="b"/>
            <a:pathLst>
              <a:path w="8392653" h="4091418">
                <a:moveTo>
                  <a:pt x="0" y="0"/>
                </a:moveTo>
                <a:lnTo>
                  <a:pt x="8392653" y="0"/>
                </a:lnTo>
                <a:lnTo>
                  <a:pt x="8392653" y="4091418"/>
                </a:lnTo>
                <a:lnTo>
                  <a:pt x="0" y="409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43367" y="5520910"/>
            <a:ext cx="8371188" cy="4091418"/>
          </a:xfrm>
          <a:custGeom>
            <a:avLst/>
            <a:gdLst/>
            <a:ahLst/>
            <a:cxnLst/>
            <a:rect l="l" t="t" r="r" b="b"/>
            <a:pathLst>
              <a:path w="8371188" h="4091418">
                <a:moveTo>
                  <a:pt x="0" y="0"/>
                </a:moveTo>
                <a:lnTo>
                  <a:pt x="8371188" y="0"/>
                </a:lnTo>
                <a:lnTo>
                  <a:pt x="8371188" y="4091418"/>
                </a:lnTo>
                <a:lnTo>
                  <a:pt x="0" y="4091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49800" y="805657"/>
            <a:ext cx="12588401" cy="20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753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 &amp; Company Size</a:t>
            </a:r>
          </a:p>
          <a:p>
            <a:pPr algn="l">
              <a:lnSpc>
                <a:spcPts val="7838"/>
              </a:lnSpc>
            </a:pPr>
            <a:endParaRPr lang="en-US" sz="7537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157095"/>
            <a:ext cx="16230600" cy="298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 Max Salaries: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Consulting ($333k), Government ($329k), Technology ($327k).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 Size: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Enterprise (~$170k) &gt; Large (~$156k) &gt; Startup (~$127k).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Big firms and certain industries set higher salary ceilings.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526" y="18267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01800" y="6286500"/>
            <a:ext cx="3522881" cy="3772222"/>
          </a:xfrm>
          <a:custGeom>
            <a:avLst/>
            <a:gdLst/>
            <a:ahLst/>
            <a:cxnLst/>
            <a:rect l="l" t="t" r="r" b="b"/>
            <a:pathLst>
              <a:path w="5553836" h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363319" y="2288440"/>
            <a:ext cx="16916400" cy="753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 matters everywhere: </a:t>
            </a: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degrees boost pay across all job titles, not just technical ones.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Upskilling pays off: </a:t>
            </a: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Adding more skills and certifications directly translates into higher compensation.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Experience pays steadily: </a:t>
            </a: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Salaries rise consistently with tenure, with significant gains after 10+ years of experience.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Remote work premium: </a:t>
            </a: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Remote positions consistently outpace hybrid and on‑site roles in salary.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Industry ceiling effect: </a:t>
            </a: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While averages are similar, certain industries allow standout performers to earn far above the norm.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Company size advantage: </a:t>
            </a: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Enterprise firms lead in pay, reinforcing the stability and resources of larger organizations.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endParaRPr lang="en-US" sz="3099" b="1" dirty="0">
              <a:solidFill>
                <a:srgbClr val="E4E7EB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60"/>
              </a:lnSpc>
              <a:spcBef>
                <a:spcPct val="0"/>
              </a:spcBef>
            </a:pPr>
            <a:endParaRPr lang="en-US" sz="3099" b="1" dirty="0">
              <a:solidFill>
                <a:srgbClr val="E4E7E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83247" y="556007"/>
            <a:ext cx="9696450" cy="1020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753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Significant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2B02-495D-6FF3-E813-0C7C3BDE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BBD6D5-8BB6-0297-90A7-B38D113EDB5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6B3E9D2-ABCE-522F-5200-5D6FC8346DBA}"/>
              </a:ext>
            </a:extLst>
          </p:cNvPr>
          <p:cNvGrpSpPr/>
          <p:nvPr/>
        </p:nvGrpSpPr>
        <p:grpSpPr>
          <a:xfrm>
            <a:off x="-12526" y="18267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A240779-CD78-0908-8C63-65ED516DE241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BD45A32-0D09-A1A7-00C1-A0578F81AD87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40A31D2-E8FA-6B7F-9C5F-C1E0D2664E12}"/>
              </a:ext>
            </a:extLst>
          </p:cNvPr>
          <p:cNvSpPr/>
          <p:nvPr/>
        </p:nvSpPr>
        <p:spPr>
          <a:xfrm>
            <a:off x="11593477" y="3090277"/>
            <a:ext cx="5553836" cy="5553836"/>
          </a:xfrm>
          <a:custGeom>
            <a:avLst/>
            <a:gdLst/>
            <a:ahLst/>
            <a:cxnLst/>
            <a:rect l="l" t="t" r="r" b="b"/>
            <a:pathLst>
              <a:path w="5553836" h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A4E1AA-B21A-5A86-5CB1-BC78C81EA334}"/>
              </a:ext>
            </a:extLst>
          </p:cNvPr>
          <p:cNvSpPr txBox="1"/>
          <p:nvPr/>
        </p:nvSpPr>
        <p:spPr>
          <a:xfrm>
            <a:off x="762000" y="2681720"/>
            <a:ext cx="9778477" cy="6988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34643" lvl="1" algn="just">
              <a:lnSpc>
                <a:spcPts val="4339"/>
              </a:lnSpc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For professionals: </a:t>
            </a:r>
          </a:p>
          <a:p>
            <a:pPr marL="334643" lvl="1" algn="just">
              <a:lnSpc>
                <a:spcPts val="4339"/>
              </a:lnSpc>
            </a:pPr>
            <a:endParaRPr lang="en-US" sz="3099" b="1" dirty="0">
              <a:solidFill>
                <a:schemeClr val="accent3">
                  <a:lumMod val="75000"/>
                </a:schemeClr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334643" lvl="1" algn="just">
              <a:lnSpc>
                <a:spcPts val="4339"/>
              </a:lnSpc>
            </a:pP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Invest in advanced degrees, certifications, and continuous skill development to maximize earning potential.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endParaRPr lang="en-US" sz="3099" b="1" dirty="0">
              <a:solidFill>
                <a:srgbClr val="E4E7EB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334643" lvl="1" algn="just">
              <a:lnSpc>
                <a:spcPts val="4339"/>
              </a:lnSpc>
            </a:pPr>
            <a:endParaRPr lang="en-US" sz="3099" b="1" dirty="0">
              <a:solidFill>
                <a:srgbClr val="E4E7EB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334643" lvl="1" algn="just">
              <a:lnSpc>
                <a:spcPts val="4339"/>
              </a:lnSpc>
            </a:pPr>
            <a:r>
              <a:rPr lang="en-US" sz="3099" b="1" dirty="0">
                <a:solidFill>
                  <a:schemeClr val="accent3">
                    <a:lumMod val="7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For recruiters/companies: </a:t>
            </a:r>
          </a:p>
          <a:p>
            <a:pPr marL="334643" lvl="1" algn="just">
              <a:lnSpc>
                <a:spcPts val="4339"/>
              </a:lnSpc>
            </a:pPr>
            <a:endParaRPr lang="en-US" sz="3099" b="1" dirty="0">
              <a:solidFill>
                <a:schemeClr val="accent3">
                  <a:lumMod val="75000"/>
                </a:schemeClr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334643" lvl="1" algn="just">
              <a:lnSpc>
                <a:spcPts val="4339"/>
              </a:lnSpc>
            </a:pPr>
            <a:r>
              <a:rPr lang="en-US" sz="3099" b="1" dirty="0">
                <a:solidFill>
                  <a:srgbClr val="E4E7EB"/>
                </a:solidFill>
                <a:latin typeface="Poppins Bold"/>
                <a:ea typeface="Poppins Bold"/>
                <a:cs typeface="Poppins Bold"/>
                <a:sym typeface="Poppins Bold"/>
              </a:rPr>
              <a:t>Emphasize remote flexibility and upskilling opportunities to attract top talent.</a:t>
            </a:r>
          </a:p>
          <a:p>
            <a:pPr marL="669285" lvl="1" indent="-334642" algn="just">
              <a:lnSpc>
                <a:spcPts val="4339"/>
              </a:lnSpc>
              <a:buFont typeface="Arial"/>
              <a:buChar char="•"/>
            </a:pPr>
            <a:endParaRPr lang="en-US" sz="3099" b="1" dirty="0">
              <a:solidFill>
                <a:srgbClr val="E4E7EB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660"/>
              </a:lnSpc>
              <a:spcBef>
                <a:spcPct val="0"/>
              </a:spcBef>
            </a:pPr>
            <a:endParaRPr lang="en-US" sz="3099" b="1" dirty="0">
              <a:solidFill>
                <a:srgbClr val="E4E7EB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3FED550-0FB6-DA37-ACEA-1EE6B655D3F0}"/>
              </a:ext>
            </a:extLst>
          </p:cNvPr>
          <p:cNvSpPr txBox="1"/>
          <p:nvPr/>
        </p:nvSpPr>
        <p:spPr>
          <a:xfrm>
            <a:off x="1409700" y="1043972"/>
            <a:ext cx="15468600" cy="1020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753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 / Next Steps</a:t>
            </a:r>
          </a:p>
        </p:txBody>
      </p:sp>
    </p:spTree>
    <p:extLst>
      <p:ext uri="{BB962C8B-B14F-4D97-AF65-F5344CB8AC3E}">
        <p14:creationId xmlns:p14="http://schemas.microsoft.com/office/powerpoint/2010/main" val="3111612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839908" y="2165933"/>
            <a:ext cx="6608184" cy="6602071"/>
          </a:xfrm>
          <a:custGeom>
            <a:avLst/>
            <a:gdLst/>
            <a:ahLst/>
            <a:cxnLst/>
            <a:rect l="l" t="t" r="r" b="b"/>
            <a:pathLst>
              <a:path w="6608184" h="6602071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NISSY JIJU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5183" y="4503839"/>
            <a:ext cx="12597633" cy="132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14"/>
              </a:lnSpc>
            </a:pPr>
            <a:r>
              <a:rPr lang="en-US" sz="905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797224"/>
            <a:ext cx="6606449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GitHub:https://github.com/NISSYJIJU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11960" y="8797224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nissyjijugr8@gmail.com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96029" y="8806749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929</Words>
  <Application>Microsoft Office PowerPoint</Application>
  <PresentationFormat>Custom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Poppins Ultra-Bold</vt:lpstr>
      <vt:lpstr>Calibri</vt:lpstr>
      <vt:lpstr>Poppins Bold</vt:lpstr>
      <vt:lpstr>Atkinson Hyperlegible 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Data Analysis Presentation</dc:title>
  <dc:creator>Nighil Jiju</dc:creator>
  <cp:lastModifiedBy>Nighil Jiju</cp:lastModifiedBy>
  <cp:revision>5</cp:revision>
  <dcterms:created xsi:type="dcterms:W3CDTF">2006-08-16T00:00:00Z</dcterms:created>
  <dcterms:modified xsi:type="dcterms:W3CDTF">2026-04-08T13:38:51Z</dcterms:modified>
  <dc:identifier>DAHFMhesJN8</dc:identifier>
</cp:coreProperties>
</file>