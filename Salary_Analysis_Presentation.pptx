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7" r:id="rId7"/>
    <p:sldId id="268" r:id="rId8"/>
    <p:sldId id="269" r:id="rId9"/>
    <p:sldId id="260" r:id="rId10"/>
    <p:sldId id="261" r:id="rId11"/>
    <p:sldId id="262" r:id="rId12"/>
    <p:sldId id="263" r:id="rId13"/>
    <p:sldId id="264" r:id="rId14"/>
    <p:sldId id="270" r:id="rId15"/>
    <p:sldId id="265" r:id="rId16"/>
  </p:sldIdLst>
  <p:sldSz cx="18288000" cy="10287000"/>
  <p:notesSz cx="6858000" cy="9144000"/>
  <p:embeddedFontLst>
    <p:embeddedFont>
      <p:font typeface="Atkinson Hyperlegible Bold" panose="020B0604020202020204" charset="0"/>
      <p:regular r:id="rId17"/>
    </p:embeddedFont>
    <p:embeddedFont>
      <p:font typeface="Poppins" panose="00000500000000000000" pitchFamily="2" charset="0"/>
      <p:regular r:id="rId18"/>
      <p:bold r:id="rId19"/>
      <p:italic r:id="rId20"/>
      <p:boldItalic r:id="rId21"/>
    </p:embeddedFont>
    <p:embeddedFont>
      <p:font typeface="Poppins Bold" panose="00000800000000000000" charset="0"/>
      <p:regular r:id="rId22"/>
    </p:embeddedFont>
    <p:embeddedFont>
      <p:font typeface="Poppins Ultra-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1" d="100"/>
          <a:sy n="61" d="100"/>
        </p:scale>
        <p:origin x="322" y="9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3002799" y="9173708"/>
            <a:ext cx="530888" cy="617312"/>
          </a:xfrm>
          <a:custGeom>
            <a:avLst/>
            <a:gdLst/>
            <a:ahLst/>
            <a:cxnLst/>
            <a:rect l="l" t="t" r="r" b="b"/>
            <a:pathLst>
              <a:path w="530888" h="617312">
                <a:moveTo>
                  <a:pt x="0" y="0"/>
                </a:moveTo>
                <a:lnTo>
                  <a:pt x="530888" y="0"/>
                </a:lnTo>
                <a:lnTo>
                  <a:pt x="530888" y="617311"/>
                </a:lnTo>
                <a:lnTo>
                  <a:pt x="0" y="61731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581031" y="1257341"/>
            <a:ext cx="6575704" cy="7772318"/>
            <a:chOff x="0" y="0"/>
            <a:chExt cx="937713" cy="110835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37713" cy="1108353"/>
            </a:xfrm>
            <a:custGeom>
              <a:avLst/>
              <a:gdLst/>
              <a:ahLst/>
              <a:cxnLst/>
              <a:rect l="l" t="t" r="r" b="b"/>
              <a:pathLst>
                <a:path w="937713" h="1108353">
                  <a:moveTo>
                    <a:pt x="94188" y="0"/>
                  </a:moveTo>
                  <a:lnTo>
                    <a:pt x="843525" y="0"/>
                  </a:lnTo>
                  <a:cubicBezTo>
                    <a:pt x="868505" y="0"/>
                    <a:pt x="892462" y="9923"/>
                    <a:pt x="910126" y="27587"/>
                  </a:cubicBezTo>
                  <a:cubicBezTo>
                    <a:pt x="927789" y="45251"/>
                    <a:pt x="937713" y="69208"/>
                    <a:pt x="937713" y="94188"/>
                  </a:cubicBezTo>
                  <a:lnTo>
                    <a:pt x="937713" y="1014165"/>
                  </a:lnTo>
                  <a:cubicBezTo>
                    <a:pt x="937713" y="1039145"/>
                    <a:pt x="927789" y="1063102"/>
                    <a:pt x="910126" y="1080766"/>
                  </a:cubicBezTo>
                  <a:cubicBezTo>
                    <a:pt x="892462" y="1098430"/>
                    <a:pt x="868505" y="1108353"/>
                    <a:pt x="843525" y="1108353"/>
                  </a:cubicBezTo>
                  <a:lnTo>
                    <a:pt x="94188" y="1108353"/>
                  </a:lnTo>
                  <a:cubicBezTo>
                    <a:pt x="69208" y="1108353"/>
                    <a:pt x="45251" y="1098430"/>
                    <a:pt x="27587" y="1080766"/>
                  </a:cubicBezTo>
                  <a:cubicBezTo>
                    <a:pt x="9923" y="1063102"/>
                    <a:pt x="0" y="1039145"/>
                    <a:pt x="0" y="1014165"/>
                  </a:cubicBezTo>
                  <a:lnTo>
                    <a:pt x="0" y="94188"/>
                  </a:lnTo>
                  <a:cubicBezTo>
                    <a:pt x="0" y="69208"/>
                    <a:pt x="9923" y="45251"/>
                    <a:pt x="27587" y="27587"/>
                  </a:cubicBezTo>
                  <a:cubicBezTo>
                    <a:pt x="45251" y="9923"/>
                    <a:pt x="69208" y="0"/>
                    <a:pt x="94188" y="0"/>
                  </a:cubicBezTo>
                  <a:close/>
                </a:path>
              </a:pathLst>
            </a:custGeom>
            <a:blipFill>
              <a:blip r:embed="rId4"/>
              <a:stretch>
                <a:fillRect l="-38703" r="-38703"/>
              </a:stretch>
            </a:blipFill>
            <a:ln w="323850" cap="rnd">
              <a:gradFill>
                <a:gsLst>
                  <a:gs pos="0">
                    <a:srgbClr val="00D1FF">
                      <a:alpha val="100000"/>
                    </a:srgbClr>
                  </a:gs>
                  <a:gs pos="100000">
                    <a:srgbClr val="001496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7941119" y="3039023"/>
            <a:ext cx="9610267" cy="2288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982"/>
              </a:lnSpc>
            </a:pPr>
            <a:r>
              <a:rPr lang="en-US" sz="5752" b="1" dirty="0">
                <a:solidFill>
                  <a:srgbClr val="FFFFFF"/>
                </a:solidFill>
                <a:latin typeface="Atkinson Hyperlegible Bold"/>
                <a:ea typeface="Atkinson Hyperlegible Bold"/>
                <a:cs typeface="Atkinson Hyperlegible Bold"/>
                <a:sym typeface="Atkinson Hyperlegible Bold"/>
              </a:rPr>
              <a:t>Decoding the Dollars: A Python-Based Analysis of Global Salary Trends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009598" y="6285865"/>
            <a:ext cx="8249702" cy="915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39"/>
              </a:lnSpc>
              <a:spcBef>
                <a:spcPct val="0"/>
              </a:spcBef>
            </a:pPr>
            <a:r>
              <a:rPr lang="en-US" sz="2599" b="1" dirty="0">
                <a:solidFill>
                  <a:schemeClr val="bg1">
                    <a:lumMod val="8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Exploratory Data Analysis (EDA) of the Modern Job Market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829359" y="9228363"/>
            <a:ext cx="3429941" cy="44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Presenter: Nissy Jiju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324775" y="874331"/>
            <a:ext cx="5754249" cy="7190919"/>
            <a:chOff x="0" y="0"/>
            <a:chExt cx="806932" cy="100839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06932" cy="1008399"/>
            </a:xfrm>
            <a:custGeom>
              <a:avLst/>
              <a:gdLst/>
              <a:ahLst/>
              <a:cxnLst/>
              <a:rect l="l" t="t" r="r" b="b"/>
              <a:pathLst>
                <a:path w="806932" h="1008399">
                  <a:moveTo>
                    <a:pt x="107634" y="0"/>
                  </a:moveTo>
                  <a:lnTo>
                    <a:pt x="699298" y="0"/>
                  </a:lnTo>
                  <a:cubicBezTo>
                    <a:pt x="727844" y="0"/>
                    <a:pt x="755221" y="11340"/>
                    <a:pt x="775407" y="31525"/>
                  </a:cubicBezTo>
                  <a:cubicBezTo>
                    <a:pt x="795592" y="51711"/>
                    <a:pt x="806932" y="79088"/>
                    <a:pt x="806932" y="107634"/>
                  </a:cubicBezTo>
                  <a:lnTo>
                    <a:pt x="806932" y="900765"/>
                  </a:lnTo>
                  <a:cubicBezTo>
                    <a:pt x="806932" y="960210"/>
                    <a:pt x="758742" y="1008399"/>
                    <a:pt x="699298" y="1008399"/>
                  </a:cubicBezTo>
                  <a:lnTo>
                    <a:pt x="107634" y="1008399"/>
                  </a:lnTo>
                  <a:cubicBezTo>
                    <a:pt x="79088" y="1008399"/>
                    <a:pt x="51711" y="997059"/>
                    <a:pt x="31525" y="976874"/>
                  </a:cubicBezTo>
                  <a:cubicBezTo>
                    <a:pt x="11340" y="956689"/>
                    <a:pt x="0" y="929312"/>
                    <a:pt x="0" y="900765"/>
                  </a:cubicBezTo>
                  <a:lnTo>
                    <a:pt x="0" y="107634"/>
                  </a:lnTo>
                  <a:cubicBezTo>
                    <a:pt x="0" y="79088"/>
                    <a:pt x="11340" y="51711"/>
                    <a:pt x="31525" y="31525"/>
                  </a:cubicBezTo>
                  <a:cubicBezTo>
                    <a:pt x="51711" y="11340"/>
                    <a:pt x="79088" y="0"/>
                    <a:pt x="107634" y="0"/>
                  </a:cubicBezTo>
                  <a:close/>
                </a:path>
              </a:pathLst>
            </a:custGeom>
            <a:blipFill>
              <a:blip r:embed="rId3"/>
              <a:stretch>
                <a:fillRect l="-96657" r="-4093"/>
              </a:stretch>
            </a:blipFill>
            <a:ln w="323850" cap="rnd">
              <a:gradFill>
                <a:gsLst>
                  <a:gs pos="0">
                    <a:srgbClr val="00D1FF">
                      <a:alpha val="100000"/>
                    </a:srgbClr>
                  </a:gs>
                  <a:gs pos="100000">
                    <a:srgbClr val="001496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round/>
            </a:ln>
          </p:spPr>
        </p:sp>
      </p:grpSp>
      <p:sp>
        <p:nvSpPr>
          <p:cNvPr id="8" name="AutoShape 8"/>
          <p:cNvSpPr/>
          <p:nvPr/>
        </p:nvSpPr>
        <p:spPr>
          <a:xfrm flipV="1">
            <a:off x="0" y="9355437"/>
            <a:ext cx="14449546" cy="0"/>
          </a:xfrm>
          <a:prstGeom prst="line">
            <a:avLst/>
          </a:prstGeom>
          <a:ln w="28575" cap="flat">
            <a:solidFill>
              <a:srgbClr val="64DB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4251134" y="9096249"/>
            <a:ext cx="286001" cy="430662"/>
            <a:chOff x="0" y="0"/>
            <a:chExt cx="812800" cy="122391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4DB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1" y="38099"/>
              <a:ext cx="487675" cy="11858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8700" y="784374"/>
            <a:ext cx="8487068" cy="2087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54"/>
              </a:lnSpc>
            </a:pPr>
            <a:r>
              <a:rPr lang="en-US" sz="7552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Introduction &amp; Objective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3231884"/>
            <a:ext cx="11105097" cy="6719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6467" lvl="1" indent="-303234" algn="just">
              <a:lnSpc>
                <a:spcPts val="3932"/>
              </a:lnSpc>
              <a:buFont typeface="Arial"/>
              <a:buChar char="•"/>
            </a:pPr>
            <a:r>
              <a:rPr lang="en-US" sz="280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The Goal</a:t>
            </a: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: To identify the core drivers of compensation in job market.</a:t>
            </a:r>
          </a:p>
          <a:p>
            <a:pPr marL="606467" lvl="1" indent="-303234" algn="just">
              <a:lnSpc>
                <a:spcPts val="3932"/>
              </a:lnSpc>
              <a:buFont typeface="Arial"/>
              <a:buChar char="•"/>
            </a:pPr>
            <a:r>
              <a:rPr lang="en-US" sz="280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Key Questions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&gt;Job Title: Which roles pay the most and least?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&gt;Experience: How does salary grow with years?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&gt;Education: Do Bachelor, Master, PhD earn differently?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&gt;Skills: Do technical skills or certifications boost pay?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&gt;Industry: Which industries set the highest salaries?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&gt;Does company size make a difference? 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&gt;Location: Which countries/regions offer top salaries?</a:t>
            </a:r>
          </a:p>
          <a:p>
            <a:pPr algn="just">
              <a:lnSpc>
                <a:spcPts val="3932"/>
              </a:lnSpc>
            </a:pPr>
            <a:r>
              <a:rPr lang="en-US" sz="280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&gt;Work Mode: Is remote work paid more than hybrid/on‑site?</a:t>
            </a:r>
          </a:p>
          <a:p>
            <a:pPr algn="just">
              <a:lnSpc>
                <a:spcPts val="3512"/>
              </a:lnSpc>
            </a:pPr>
            <a:endParaRPr lang="en-US" sz="2809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512"/>
              </a:lnSpc>
            </a:pPr>
            <a:endParaRPr lang="en-US" sz="2809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2952"/>
              </a:lnSpc>
              <a:spcBef>
                <a:spcPct val="0"/>
              </a:spcBef>
            </a:pPr>
            <a:endParaRPr lang="en-US" sz="2809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1585975" y="2172774"/>
            <a:ext cx="5902319" cy="5902319"/>
          </a:xfrm>
          <a:custGeom>
            <a:avLst/>
            <a:gdLst/>
            <a:ahLst/>
            <a:cxnLst/>
            <a:rect l="l" t="t" r="r" b="b"/>
            <a:pathLst>
              <a:path w="5902319" h="5902319">
                <a:moveTo>
                  <a:pt x="0" y="0"/>
                </a:moveTo>
                <a:lnTo>
                  <a:pt x="5902320" y="0"/>
                </a:lnTo>
                <a:lnTo>
                  <a:pt x="5902320" y="5902320"/>
                </a:lnTo>
                <a:lnTo>
                  <a:pt x="0" y="59023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076325"/>
            <a:ext cx="8487068" cy="1096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54"/>
              </a:lnSpc>
            </a:pPr>
            <a:r>
              <a:rPr lang="en-US" sz="7552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The Tech Stack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71833" y="2651445"/>
            <a:ext cx="9845514" cy="6032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6662" lvl="1" indent="-373331" algn="just">
              <a:lnSpc>
                <a:spcPts val="4841"/>
              </a:lnSpc>
              <a:buFont typeface="Arial"/>
              <a:buChar char="•"/>
            </a:pPr>
            <a:r>
              <a:rPr lang="en-US" sz="345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Language: </a:t>
            </a:r>
            <a:r>
              <a:rPr lang="en-US" sz="3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Python</a:t>
            </a:r>
          </a:p>
          <a:p>
            <a:pPr marL="746662" lvl="1" indent="-373331" algn="just">
              <a:lnSpc>
                <a:spcPts val="4841"/>
              </a:lnSpc>
              <a:buFont typeface="Arial"/>
              <a:buChar char="•"/>
            </a:pPr>
            <a:r>
              <a:rPr lang="en-US" sz="345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Environment: </a:t>
            </a:r>
            <a:r>
              <a:rPr lang="en-US" sz="3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Jupyter Notebook.</a:t>
            </a:r>
          </a:p>
          <a:p>
            <a:pPr marL="746662" lvl="1" indent="-373331" algn="just">
              <a:lnSpc>
                <a:spcPts val="4841"/>
              </a:lnSpc>
              <a:buFont typeface="Arial"/>
              <a:buChar char="•"/>
            </a:pPr>
            <a:r>
              <a:rPr lang="en-US" sz="345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Libraries Used:</a:t>
            </a:r>
            <a:r>
              <a:rPr lang="en-US" sz="3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just">
              <a:lnSpc>
                <a:spcPts val="4841"/>
              </a:lnSpc>
            </a:pPr>
            <a:endParaRPr lang="en-US" sz="3458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841"/>
              </a:lnSpc>
            </a:pPr>
            <a:r>
              <a:rPr lang="en-US" sz="3458" b="1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Pandas &amp; NumPy:</a:t>
            </a:r>
            <a:r>
              <a:rPr lang="en-US" sz="3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Data cleaning and  manipulation.</a:t>
            </a:r>
          </a:p>
          <a:p>
            <a:pPr algn="just">
              <a:lnSpc>
                <a:spcPts val="4841"/>
              </a:lnSpc>
            </a:pPr>
            <a:r>
              <a:rPr lang="en-US" sz="3458" b="1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Matplotlib &amp; Seaborn:</a:t>
            </a:r>
            <a:r>
              <a:rPr lang="en-US" sz="345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For static, high-fidelity visualizations.</a:t>
            </a:r>
          </a:p>
          <a:p>
            <a:pPr algn="just">
              <a:lnSpc>
                <a:spcPts val="4841"/>
              </a:lnSpc>
            </a:pPr>
            <a:endParaRPr lang="en-US" sz="3458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222"/>
              </a:lnSpc>
              <a:spcBef>
                <a:spcPct val="0"/>
              </a:spcBef>
            </a:pPr>
            <a:endParaRPr lang="en-US" sz="3458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14251134" y="9096249"/>
            <a:ext cx="286001" cy="28600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4DB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1585975" y="1028700"/>
            <a:ext cx="6172200" cy="6172200"/>
          </a:xfrm>
          <a:custGeom>
            <a:avLst/>
            <a:gdLst/>
            <a:ahLst/>
            <a:cxnLst/>
            <a:rect l="l" t="t" r="r" b="b"/>
            <a:pathLst>
              <a:path w="6172200" h="6172200">
                <a:moveTo>
                  <a:pt x="0" y="0"/>
                </a:moveTo>
                <a:lnTo>
                  <a:pt x="6172200" y="0"/>
                </a:lnTo>
                <a:lnTo>
                  <a:pt x="6172200" y="6172200"/>
                </a:lnTo>
                <a:lnTo>
                  <a:pt x="0" y="6172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70D32">
                <a:alpha val="100000"/>
              </a:srgbClr>
            </a:gs>
            <a:gs pos="100000">
              <a:srgbClr val="001496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363200" y="1775073"/>
            <a:ext cx="7098522" cy="7098522"/>
          </a:xfrm>
          <a:custGeom>
            <a:avLst/>
            <a:gdLst/>
            <a:ahLst/>
            <a:cxnLst/>
            <a:rect l="l" t="t" r="r" b="b"/>
            <a:pathLst>
              <a:path w="7098522" h="7098522">
                <a:moveTo>
                  <a:pt x="0" y="0"/>
                </a:moveTo>
                <a:lnTo>
                  <a:pt x="7098522" y="0"/>
                </a:lnTo>
                <a:lnTo>
                  <a:pt x="7098522" y="7098522"/>
                </a:lnTo>
                <a:lnTo>
                  <a:pt x="0" y="70985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4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28601" y="475590"/>
            <a:ext cx="8229600" cy="1290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70"/>
              </a:lnSpc>
            </a:pPr>
            <a:r>
              <a:rPr lang="en-US" sz="755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19200" y="1943100"/>
            <a:ext cx="8953500" cy="7523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96931" indent="-742950" algn="just">
              <a:lnSpc>
                <a:spcPts val="5332"/>
              </a:lnSpc>
              <a:buAutoNum type="arabicPeriod"/>
            </a:pPr>
            <a:r>
              <a:rPr lang="en-IN" sz="3870" b="1" dirty="0">
                <a:solidFill>
                  <a:schemeClr val="bg1"/>
                </a:solidFill>
              </a:rPr>
              <a:t>Dataset Loading &amp; Initial Overview</a:t>
            </a:r>
          </a:p>
          <a:p>
            <a:pPr marL="696931" indent="-742950" algn="just">
              <a:lnSpc>
                <a:spcPts val="5332"/>
              </a:lnSpc>
              <a:buAutoNum type="arabicPeriod"/>
            </a:pPr>
            <a:r>
              <a:rPr lang="en-IN" sz="3870" b="1" dirty="0">
                <a:solidFill>
                  <a:schemeClr val="bg1"/>
                </a:solidFill>
              </a:rPr>
              <a:t>Data Pre-processing</a:t>
            </a:r>
          </a:p>
          <a:p>
            <a:pPr marL="411181" lvl="1" algn="just">
              <a:lnSpc>
                <a:spcPts val="5332"/>
              </a:lnSpc>
            </a:pPr>
            <a:r>
              <a:rPr lang="en-IN" sz="3870" dirty="0">
                <a:solidFill>
                  <a:schemeClr val="bg1"/>
                </a:solidFill>
              </a:rPr>
              <a:t>       ○ Handling missing values </a:t>
            </a:r>
          </a:p>
          <a:p>
            <a:pPr marL="411181" lvl="1" algn="just">
              <a:lnSpc>
                <a:spcPts val="5332"/>
              </a:lnSpc>
            </a:pPr>
            <a:r>
              <a:rPr lang="en-IN" sz="3870" dirty="0">
                <a:solidFill>
                  <a:schemeClr val="bg1"/>
                </a:solidFill>
              </a:rPr>
              <a:t>       ○ Removing duplicates </a:t>
            </a:r>
          </a:p>
          <a:p>
            <a:pPr marL="411181" lvl="1" algn="just">
              <a:lnSpc>
                <a:spcPts val="5332"/>
              </a:lnSpc>
            </a:pPr>
            <a:r>
              <a:rPr lang="en-IN" sz="3870" dirty="0">
                <a:solidFill>
                  <a:schemeClr val="bg1"/>
                </a:solidFill>
              </a:rPr>
              <a:t>       ○ Correcting data types </a:t>
            </a:r>
          </a:p>
          <a:p>
            <a:pPr marL="411181" lvl="1" algn="just">
              <a:lnSpc>
                <a:spcPts val="5332"/>
              </a:lnSpc>
            </a:pPr>
            <a:r>
              <a:rPr lang="en-IN" sz="3870" dirty="0">
                <a:solidFill>
                  <a:schemeClr val="bg1"/>
                </a:solidFill>
              </a:rPr>
              <a:t>       ○ Creating derived columns </a:t>
            </a:r>
          </a:p>
          <a:p>
            <a:pPr marL="411181" lvl="1" algn="just">
              <a:lnSpc>
                <a:spcPts val="5332"/>
              </a:lnSpc>
            </a:pPr>
            <a:r>
              <a:rPr lang="en-IN" sz="3870" dirty="0">
                <a:solidFill>
                  <a:schemeClr val="bg1"/>
                </a:solidFill>
              </a:rPr>
              <a:t>       ○ Filtering or aggregating data</a:t>
            </a:r>
          </a:p>
          <a:p>
            <a:pPr marL="411181" lvl="1" algn="just">
              <a:lnSpc>
                <a:spcPts val="5332"/>
              </a:lnSpc>
            </a:pPr>
            <a:r>
              <a:rPr lang="en-IN" sz="3870" dirty="0">
                <a:solidFill>
                  <a:schemeClr val="bg1"/>
                </a:solidFill>
              </a:rPr>
              <a:t> </a:t>
            </a:r>
          </a:p>
          <a:p>
            <a:pPr algn="just">
              <a:lnSpc>
                <a:spcPts val="3232"/>
              </a:lnSpc>
              <a:spcBef>
                <a:spcPct val="0"/>
              </a:spcBef>
            </a:pPr>
            <a:r>
              <a:rPr lang="en-US" sz="3808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3. Exploratory Data Analysis (EDA)</a:t>
            </a:r>
          </a:p>
          <a:p>
            <a:pPr algn="just">
              <a:lnSpc>
                <a:spcPts val="3232"/>
              </a:lnSpc>
              <a:spcBef>
                <a:spcPct val="0"/>
              </a:spcBef>
            </a:pPr>
            <a:endParaRPr lang="en-US" sz="3808" b="1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232"/>
              </a:lnSpc>
              <a:spcBef>
                <a:spcPct val="0"/>
              </a:spcBef>
            </a:pPr>
            <a:r>
              <a:rPr lang="en-US" sz="3808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4. Visualizations  </a:t>
            </a:r>
          </a:p>
          <a:p>
            <a:pPr algn="just">
              <a:lnSpc>
                <a:spcPts val="3232"/>
              </a:lnSpc>
              <a:spcBef>
                <a:spcPct val="0"/>
              </a:spcBef>
            </a:pPr>
            <a:endParaRPr lang="en-US" sz="3808" b="1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3232"/>
              </a:lnSpc>
              <a:spcBef>
                <a:spcPct val="0"/>
              </a:spcBef>
            </a:pPr>
            <a:r>
              <a:rPr lang="en-US" sz="3808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5. Insight Generation and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70D32">
                <a:alpha val="100000"/>
              </a:srgbClr>
            </a:gs>
            <a:gs pos="100000">
              <a:srgbClr val="001496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B2B0BE-5025-CE6D-DA10-8C97C4B04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8E79ECA-6490-692A-0E95-971532661DA2}"/>
              </a:ext>
            </a:extLst>
          </p:cNvPr>
          <p:cNvSpPr/>
          <p:nvPr/>
        </p:nvSpPr>
        <p:spPr>
          <a:xfrm>
            <a:off x="5594739" y="1594239"/>
            <a:ext cx="7098522" cy="7098522"/>
          </a:xfrm>
          <a:custGeom>
            <a:avLst/>
            <a:gdLst/>
            <a:ahLst/>
            <a:cxnLst/>
            <a:rect l="l" t="t" r="r" b="b"/>
            <a:pathLst>
              <a:path w="7098522" h="7098522">
                <a:moveTo>
                  <a:pt x="0" y="0"/>
                </a:moveTo>
                <a:lnTo>
                  <a:pt x="7098522" y="0"/>
                </a:lnTo>
                <a:lnTo>
                  <a:pt x="7098522" y="7098522"/>
                </a:lnTo>
                <a:lnTo>
                  <a:pt x="0" y="70985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4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462CA64B-BE49-6E35-8B3D-53D53A0154E9}"/>
              </a:ext>
            </a:extLst>
          </p:cNvPr>
          <p:cNvSpPr txBox="1"/>
          <p:nvPr/>
        </p:nvSpPr>
        <p:spPr>
          <a:xfrm>
            <a:off x="749596" y="819150"/>
            <a:ext cx="9690285" cy="1290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70"/>
              </a:lnSpc>
            </a:pPr>
            <a:r>
              <a:rPr lang="en-US" sz="755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1. Dataset Overview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4F53E40-7D10-80DB-B5A7-68DB84C96BCD}"/>
              </a:ext>
            </a:extLst>
          </p:cNvPr>
          <p:cNvSpPr txBox="1"/>
          <p:nvPr/>
        </p:nvSpPr>
        <p:spPr>
          <a:xfrm>
            <a:off x="1028700" y="3203309"/>
            <a:ext cx="16230600" cy="51801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r>
              <a:rPr lang="en-US" sz="380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Size:</a:t>
            </a:r>
            <a:r>
              <a:rPr lang="en-US" sz="380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250,000 rows × 15 columns</a:t>
            </a: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r>
              <a:rPr lang="en-US" sz="380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Key Features:</a:t>
            </a:r>
            <a:r>
              <a:rPr lang="en-US" sz="380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Job title, experience years, education level, skills count, industry, company size, location, remote work, certifications, salary</a:t>
            </a: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r>
              <a:rPr lang="en-US" sz="380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Quality:</a:t>
            </a:r>
            <a:r>
              <a:rPr lang="en-US" sz="380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Minor missing values handled, duplicates removed, derived features created (salary bands, experience groups, skill levels).</a:t>
            </a:r>
          </a:p>
          <a:p>
            <a:pPr algn="just">
              <a:lnSpc>
                <a:spcPts val="3232"/>
              </a:lnSpc>
              <a:spcBef>
                <a:spcPct val="0"/>
              </a:spcBef>
            </a:pPr>
            <a:endParaRPr lang="en-US" sz="3808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074925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70D32">
                <a:alpha val="100000"/>
              </a:srgbClr>
            </a:gs>
            <a:gs pos="100000">
              <a:srgbClr val="001496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7CBA7-54D4-8DBB-B89B-59579526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1D18F94-BABF-55C4-D5BD-543F655C4D60}"/>
              </a:ext>
            </a:extLst>
          </p:cNvPr>
          <p:cNvSpPr/>
          <p:nvPr/>
        </p:nvSpPr>
        <p:spPr>
          <a:xfrm>
            <a:off x="5594739" y="1594239"/>
            <a:ext cx="7098522" cy="7098522"/>
          </a:xfrm>
          <a:custGeom>
            <a:avLst/>
            <a:gdLst/>
            <a:ahLst/>
            <a:cxnLst/>
            <a:rect l="l" t="t" r="r" b="b"/>
            <a:pathLst>
              <a:path w="7098522" h="7098522">
                <a:moveTo>
                  <a:pt x="0" y="0"/>
                </a:moveTo>
                <a:lnTo>
                  <a:pt x="7098522" y="0"/>
                </a:lnTo>
                <a:lnTo>
                  <a:pt x="7098522" y="7098522"/>
                </a:lnTo>
                <a:lnTo>
                  <a:pt x="0" y="70985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4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D604666-EFFB-0948-9511-EEAF67A567D5}"/>
              </a:ext>
            </a:extLst>
          </p:cNvPr>
          <p:cNvSpPr txBox="1"/>
          <p:nvPr/>
        </p:nvSpPr>
        <p:spPr>
          <a:xfrm>
            <a:off x="-304800" y="647700"/>
            <a:ext cx="15633404" cy="2649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70"/>
              </a:lnSpc>
            </a:pPr>
            <a:r>
              <a:rPr lang="en-US" sz="7550" b="1" dirty="0">
                <a:solidFill>
                  <a:schemeClr val="bg1"/>
                </a:solidFill>
              </a:rPr>
              <a:t>2. Summary of Data Pre‑processing</a:t>
            </a:r>
          </a:p>
          <a:p>
            <a:pPr algn="ctr">
              <a:lnSpc>
                <a:spcPts val="10570"/>
              </a:lnSpc>
            </a:pPr>
            <a:endParaRPr lang="en-US" sz="7550" b="1" dirty="0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D11F8C-01A8-B0BB-0C4C-1BB4EC22AADC}"/>
              </a:ext>
            </a:extLst>
          </p:cNvPr>
          <p:cNvSpPr txBox="1"/>
          <p:nvPr/>
        </p:nvSpPr>
        <p:spPr>
          <a:xfrm>
            <a:off x="990600" y="2595784"/>
            <a:ext cx="17030700" cy="6798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br>
              <a:rPr lang="en-US" sz="3870" dirty="0">
                <a:solidFill>
                  <a:schemeClr val="bg1"/>
                </a:solidFill>
              </a:rPr>
            </a:br>
            <a:r>
              <a:rPr lang="en-US" sz="3870" b="1" dirty="0">
                <a:solidFill>
                  <a:schemeClr val="bg1"/>
                </a:solidFill>
              </a:rPr>
              <a:t>Cleaning:</a:t>
            </a:r>
            <a:r>
              <a:rPr lang="en-US" sz="3870" dirty="0">
                <a:solidFill>
                  <a:schemeClr val="bg1"/>
                </a:solidFill>
              </a:rPr>
              <a:t> Filled missing values with median; removed duplicates</a:t>
            </a:r>
          </a:p>
          <a:p>
            <a:endParaRPr lang="en-US" sz="3870" dirty="0">
              <a:solidFill>
                <a:schemeClr val="bg1"/>
              </a:solidFill>
            </a:endParaRPr>
          </a:p>
          <a:p>
            <a:r>
              <a:rPr lang="en-US" sz="3870" b="1" dirty="0">
                <a:solidFill>
                  <a:schemeClr val="bg1"/>
                </a:solidFill>
              </a:rPr>
              <a:t>New Features:</a:t>
            </a:r>
            <a:r>
              <a:rPr lang="en-US" sz="3870" dirty="0">
                <a:solidFill>
                  <a:schemeClr val="bg1"/>
                </a:solidFill>
              </a:rPr>
              <a:t> Salary range category, experience bracket</a:t>
            </a:r>
          </a:p>
          <a:p>
            <a:endParaRPr lang="en-US" sz="3870" dirty="0">
              <a:solidFill>
                <a:schemeClr val="bg1"/>
              </a:solidFill>
            </a:endParaRPr>
          </a:p>
          <a:p>
            <a:r>
              <a:rPr lang="en-US" sz="3870" b="1" dirty="0">
                <a:solidFill>
                  <a:schemeClr val="bg1"/>
                </a:solidFill>
              </a:rPr>
              <a:t>Filtering &amp; Aggregation:</a:t>
            </a:r>
            <a:r>
              <a:rPr lang="en-US" sz="3870" dirty="0">
                <a:solidFill>
                  <a:schemeClr val="bg1"/>
                </a:solidFill>
              </a:rPr>
              <a:t> Employee counts by job title; average salary by education</a:t>
            </a:r>
          </a:p>
          <a:p>
            <a:r>
              <a:rPr lang="en-US" sz="3870" b="1" dirty="0">
                <a:solidFill>
                  <a:schemeClr val="bg1"/>
                </a:solidFill>
              </a:rPr>
              <a:t>Current Dataset:</a:t>
            </a:r>
            <a:r>
              <a:rPr lang="en-US" sz="3870" dirty="0">
                <a:solidFill>
                  <a:schemeClr val="bg1"/>
                </a:solidFill>
              </a:rPr>
              <a:t> 250,000 rows × 16 columns</a:t>
            </a:r>
          </a:p>
          <a:p>
            <a:pPr marL="411181" lvl="1" algn="just">
              <a:lnSpc>
                <a:spcPts val="5332"/>
              </a:lnSpc>
            </a:pPr>
            <a:endParaRPr lang="en-IN" sz="2400" b="1" dirty="0">
              <a:solidFill>
                <a:srgbClr val="FFFFFF"/>
              </a:solidFill>
              <a:latin typeface="+mj-lt"/>
              <a:cs typeface="Poppins Bold"/>
            </a:endParaRP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IN" dirty="0"/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US" sz="3808" b="1" dirty="0">
              <a:solidFill>
                <a:srgbClr val="FFFFFF"/>
              </a:solidFill>
              <a:latin typeface="Poppins Bold"/>
              <a:cs typeface="Poppins Bold"/>
            </a:endParaRP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US" sz="2400" b="1" dirty="0">
              <a:solidFill>
                <a:srgbClr val="FFFFFF"/>
              </a:solidFill>
              <a:latin typeface="+mj-lt"/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888601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70D32">
                <a:alpha val="100000"/>
              </a:srgbClr>
            </a:gs>
            <a:gs pos="100000">
              <a:srgbClr val="001496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AA855-6F48-3657-9245-9D62F552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FE8930B-4218-4403-717A-888783414F7B}"/>
              </a:ext>
            </a:extLst>
          </p:cNvPr>
          <p:cNvSpPr/>
          <p:nvPr/>
        </p:nvSpPr>
        <p:spPr>
          <a:xfrm>
            <a:off x="5594739" y="1594239"/>
            <a:ext cx="7098522" cy="7098522"/>
          </a:xfrm>
          <a:custGeom>
            <a:avLst/>
            <a:gdLst/>
            <a:ahLst/>
            <a:cxnLst/>
            <a:rect l="l" t="t" r="r" b="b"/>
            <a:pathLst>
              <a:path w="7098522" h="7098522">
                <a:moveTo>
                  <a:pt x="0" y="0"/>
                </a:moveTo>
                <a:lnTo>
                  <a:pt x="7098522" y="0"/>
                </a:lnTo>
                <a:lnTo>
                  <a:pt x="7098522" y="7098522"/>
                </a:lnTo>
                <a:lnTo>
                  <a:pt x="0" y="70985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4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89053814-1240-DF29-4424-51F28486E7D1}"/>
              </a:ext>
            </a:extLst>
          </p:cNvPr>
          <p:cNvSpPr txBox="1"/>
          <p:nvPr/>
        </p:nvSpPr>
        <p:spPr>
          <a:xfrm>
            <a:off x="685800" y="606893"/>
            <a:ext cx="8458200" cy="1287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70"/>
              </a:lnSpc>
            </a:pPr>
            <a:r>
              <a:rPr lang="en-US" sz="7550" b="1" dirty="0">
                <a:solidFill>
                  <a:schemeClr val="bg1"/>
                </a:solidFill>
              </a:rPr>
              <a:t>3. Summary of EDA</a:t>
            </a:r>
            <a:endParaRPr lang="en-US" sz="7550" b="1" dirty="0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C185B50-F633-955F-48FC-AEEBB27A9884}"/>
              </a:ext>
            </a:extLst>
          </p:cNvPr>
          <p:cNvSpPr txBox="1"/>
          <p:nvPr/>
        </p:nvSpPr>
        <p:spPr>
          <a:xfrm>
            <a:off x="990600" y="2595784"/>
            <a:ext cx="17030700" cy="80674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Experience: Strongest driver of salary outcomes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Education: Significant boost, especially PhD/Master levels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Job Title &amp; Company Size: Major differentiators in pay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Industry: Maxima vary, but averages remain flatter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Remote Work: Offers a slight premium across regions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Certifications &amp; Skills: Add incremental value, but less impactful than experience or education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Outliers: Present at the high end, but do not distort overall trends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Correlation Matrix: Confirms logical relationships among predictors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Location: Critical factor — USA/Canada/UK lead, India lowest, Remote amplifies regional differences</a:t>
            </a:r>
            <a:endParaRPr lang="en-IN" sz="2400" b="1" dirty="0">
              <a:solidFill>
                <a:srgbClr val="FFFFFF"/>
              </a:solidFill>
              <a:latin typeface="+mj-lt"/>
              <a:cs typeface="Poppins Bold"/>
            </a:endParaRP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IN" dirty="0"/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US" sz="3808" b="1" dirty="0">
              <a:solidFill>
                <a:srgbClr val="FFFFFF"/>
              </a:solidFill>
              <a:latin typeface="Poppins Bold"/>
              <a:cs typeface="Poppins Bold"/>
            </a:endParaRP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US" sz="2400" b="1" dirty="0">
              <a:solidFill>
                <a:srgbClr val="FFFFFF"/>
              </a:solidFill>
              <a:latin typeface="+mj-lt"/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682642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70D32">
                <a:alpha val="100000"/>
              </a:srgbClr>
            </a:gs>
            <a:gs pos="100000">
              <a:srgbClr val="001496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FDDE1-A5BE-4042-62D6-2CB89E172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E2E7B5F-A95E-8393-A347-A7047B237BFC}"/>
              </a:ext>
            </a:extLst>
          </p:cNvPr>
          <p:cNvSpPr/>
          <p:nvPr/>
        </p:nvSpPr>
        <p:spPr>
          <a:xfrm>
            <a:off x="5594739" y="1594239"/>
            <a:ext cx="7098522" cy="7098522"/>
          </a:xfrm>
          <a:custGeom>
            <a:avLst/>
            <a:gdLst/>
            <a:ahLst/>
            <a:cxnLst/>
            <a:rect l="l" t="t" r="r" b="b"/>
            <a:pathLst>
              <a:path w="7098522" h="7098522">
                <a:moveTo>
                  <a:pt x="0" y="0"/>
                </a:moveTo>
                <a:lnTo>
                  <a:pt x="7098522" y="0"/>
                </a:lnTo>
                <a:lnTo>
                  <a:pt x="7098522" y="7098522"/>
                </a:lnTo>
                <a:lnTo>
                  <a:pt x="0" y="70985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4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5F31347-1CA5-E574-B649-39748EC06F06}"/>
              </a:ext>
            </a:extLst>
          </p:cNvPr>
          <p:cNvSpPr txBox="1"/>
          <p:nvPr/>
        </p:nvSpPr>
        <p:spPr>
          <a:xfrm>
            <a:off x="685800" y="606893"/>
            <a:ext cx="6781800" cy="12870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70"/>
              </a:lnSpc>
            </a:pPr>
            <a:r>
              <a:rPr lang="en-US" sz="7550" b="1" dirty="0">
                <a:solidFill>
                  <a:schemeClr val="bg1"/>
                </a:solidFill>
              </a:rPr>
              <a:t>4. Visualizations</a:t>
            </a:r>
            <a:endParaRPr lang="en-US" sz="7550" b="1" dirty="0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B1DF5FA-DAB6-24CF-7263-AD476C9C544A}"/>
              </a:ext>
            </a:extLst>
          </p:cNvPr>
          <p:cNvSpPr txBox="1"/>
          <p:nvPr/>
        </p:nvSpPr>
        <p:spPr>
          <a:xfrm>
            <a:off x="706677" y="1878776"/>
            <a:ext cx="17030700" cy="12145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1. Average Salary by Job Title – Bar plot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2. Salary Spread by Job Title – Box plot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3. Salary Distribution by Education Level – Violin plot 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4. Salary by Education × Job Title – Subplot (</a:t>
            </a:r>
            <a:r>
              <a:rPr lang="en-US" sz="2400" b="1" dirty="0" err="1">
                <a:solidFill>
                  <a:srgbClr val="FFFFFF"/>
                </a:solidFill>
                <a:latin typeface="+mj-lt"/>
                <a:cs typeface="Poppins Bold"/>
              </a:rPr>
              <a:t>catplot</a:t>
            </a: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)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5. Salary Trend by Years of Experience – Line chart 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6. Average Salary vs Skills Count – Line chart 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7. Average Salary vs Certifications Count – Line chart 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8. Average vs Max Salary by Industry – Bar plot 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9. Average Salary by Company Size – Scatter plot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10. Salary by Work Mode across Locations – Bar plot </a:t>
            </a:r>
          </a:p>
          <a:p>
            <a:pPr marL="411181" lvl="1" algn="just">
              <a:lnSpc>
                <a:spcPts val="5332"/>
              </a:lnSpc>
            </a:pPr>
            <a:r>
              <a:rPr lang="en-US" sz="2400" b="1" dirty="0">
                <a:solidFill>
                  <a:srgbClr val="FFFFFF"/>
                </a:solidFill>
                <a:latin typeface="+mj-lt"/>
                <a:cs typeface="Poppins Bold"/>
              </a:rPr>
              <a:t>11. Average Salary Share by Location – Pie chart </a:t>
            </a:r>
          </a:p>
          <a:p>
            <a:pPr marL="411181" lvl="1" algn="just">
              <a:lnSpc>
                <a:spcPts val="5332"/>
              </a:lnSpc>
            </a:pPr>
            <a:endParaRPr lang="en-US" sz="2400" b="1" dirty="0">
              <a:solidFill>
                <a:srgbClr val="FFFFFF"/>
              </a:solidFill>
              <a:latin typeface="+mj-lt"/>
              <a:cs typeface="Poppins Bold"/>
            </a:endParaRPr>
          </a:p>
          <a:p>
            <a:pPr marL="411181" lvl="1" algn="just">
              <a:lnSpc>
                <a:spcPts val="5332"/>
              </a:lnSpc>
            </a:pPr>
            <a:endParaRPr lang="en-US" sz="2400" b="1" dirty="0">
              <a:solidFill>
                <a:srgbClr val="FFFFFF"/>
              </a:solidFill>
              <a:latin typeface="+mj-lt"/>
              <a:cs typeface="Poppins Bold"/>
            </a:endParaRPr>
          </a:p>
          <a:p>
            <a:pPr marL="411181" lvl="1" algn="just">
              <a:lnSpc>
                <a:spcPts val="5332"/>
              </a:lnSpc>
            </a:pPr>
            <a:endParaRPr lang="en-US" sz="2400" b="1" dirty="0">
              <a:solidFill>
                <a:srgbClr val="FFFFFF"/>
              </a:solidFill>
              <a:latin typeface="+mj-lt"/>
              <a:cs typeface="Poppins Bold"/>
            </a:endParaRPr>
          </a:p>
          <a:p>
            <a:pPr marL="411181" lvl="1" algn="just">
              <a:lnSpc>
                <a:spcPts val="5332"/>
              </a:lnSpc>
            </a:pPr>
            <a:endParaRPr lang="en-US" sz="2400" b="1" dirty="0">
              <a:solidFill>
                <a:srgbClr val="FFFFFF"/>
              </a:solidFill>
              <a:latin typeface="+mj-lt"/>
              <a:cs typeface="Poppins Bold"/>
            </a:endParaRP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IN" dirty="0"/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US" sz="3808" b="1" dirty="0">
              <a:solidFill>
                <a:srgbClr val="FFFFFF"/>
              </a:solidFill>
              <a:latin typeface="Poppins Bold"/>
              <a:cs typeface="Poppins Bold"/>
            </a:endParaRPr>
          </a:p>
          <a:p>
            <a:pPr marL="822362" lvl="1" indent="-411181" algn="just">
              <a:lnSpc>
                <a:spcPts val="5332"/>
              </a:lnSpc>
              <a:buFont typeface="Arial"/>
              <a:buChar char="•"/>
            </a:pPr>
            <a:endParaRPr lang="en-US" sz="2400" b="1" dirty="0">
              <a:solidFill>
                <a:srgbClr val="FFFFFF"/>
              </a:solidFill>
              <a:latin typeface="+mj-lt"/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3283128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375308" y="5414607"/>
            <a:ext cx="8545599" cy="4219102"/>
          </a:xfrm>
          <a:custGeom>
            <a:avLst/>
            <a:gdLst/>
            <a:ahLst/>
            <a:cxnLst/>
            <a:rect l="l" t="t" r="r" b="b"/>
            <a:pathLst>
              <a:path w="8545599" h="4219102">
                <a:moveTo>
                  <a:pt x="0" y="0"/>
                </a:moveTo>
                <a:lnTo>
                  <a:pt x="8545599" y="0"/>
                </a:lnTo>
                <a:lnTo>
                  <a:pt x="8545599" y="4219102"/>
                </a:lnTo>
                <a:lnTo>
                  <a:pt x="0" y="42191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672" t="-1084" r="-2672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516884" y="5414607"/>
            <a:ext cx="8460732" cy="4219102"/>
          </a:xfrm>
          <a:custGeom>
            <a:avLst/>
            <a:gdLst/>
            <a:ahLst/>
            <a:cxnLst/>
            <a:rect l="l" t="t" r="r" b="b"/>
            <a:pathLst>
              <a:path w="8460732" h="4219102">
                <a:moveTo>
                  <a:pt x="0" y="0"/>
                </a:moveTo>
                <a:lnTo>
                  <a:pt x="8460731" y="0"/>
                </a:lnTo>
                <a:lnTo>
                  <a:pt x="8460731" y="4219102"/>
                </a:lnTo>
                <a:lnTo>
                  <a:pt x="0" y="42191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20" r="-3620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3196833" y="504448"/>
            <a:ext cx="11894333" cy="1096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8"/>
              </a:lnSpc>
            </a:pPr>
            <a:r>
              <a:rPr lang="en-US" sz="75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Experience &amp; Education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02217" y="2136628"/>
            <a:ext cx="16230600" cy="3505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27" lvl="1" indent="-291463" algn="just">
              <a:lnSpc>
                <a:spcPts val="3779"/>
              </a:lnSpc>
              <a:buFont typeface="Arial"/>
              <a:buChar char="•"/>
            </a:pPr>
            <a:r>
              <a:rPr lang="en-US" sz="26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Salary vs Experience:</a:t>
            </a:r>
            <a:r>
              <a:rPr lang="en-US" sz="26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Clear upward trend (0 yrs ≈ $119k → 20 yrs ≈ $173k).</a:t>
            </a:r>
          </a:p>
          <a:p>
            <a:pPr algn="just">
              <a:lnSpc>
                <a:spcPts val="3779"/>
              </a:lnSpc>
            </a:pPr>
            <a:endParaRPr lang="en-US" sz="26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582927" lvl="1" indent="-291463" algn="just">
              <a:lnSpc>
                <a:spcPts val="3779"/>
              </a:lnSpc>
              <a:buFont typeface="Arial"/>
              <a:buChar char="•"/>
            </a:pPr>
            <a:r>
              <a:rPr lang="en-US" sz="26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Salary vs Education: </a:t>
            </a:r>
            <a:r>
              <a:rPr lang="en-US" sz="26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PhD ≈ $164k &gt; Master ≈ $153k &gt; Bachelor ≈ $142k.</a:t>
            </a:r>
          </a:p>
          <a:p>
            <a:pPr algn="just">
              <a:lnSpc>
                <a:spcPts val="3779"/>
              </a:lnSpc>
            </a:pPr>
            <a:endParaRPr lang="en-US" sz="26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582927" lvl="1" indent="-291463" algn="just">
              <a:lnSpc>
                <a:spcPts val="3779"/>
              </a:lnSpc>
              <a:buFont typeface="Arial"/>
              <a:buChar char="•"/>
            </a:pPr>
            <a:r>
              <a:rPr lang="en-US" sz="26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Insight:</a:t>
            </a:r>
            <a:r>
              <a:rPr lang="en-US" sz="26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Long‑term experience and advanced degrees are the strongest drivers of salary growth.</a:t>
            </a:r>
          </a:p>
          <a:p>
            <a:pPr algn="just">
              <a:lnSpc>
                <a:spcPts val="2520"/>
              </a:lnSpc>
            </a:pPr>
            <a:endParaRPr lang="en-US" sz="26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en-US" sz="26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3966785" y="5371752"/>
            <a:ext cx="10354430" cy="4656864"/>
          </a:xfrm>
          <a:custGeom>
            <a:avLst/>
            <a:gdLst/>
            <a:ahLst/>
            <a:cxnLst/>
            <a:rect l="l" t="t" r="r" b="b"/>
            <a:pathLst>
              <a:path w="10354430" h="4656864">
                <a:moveTo>
                  <a:pt x="0" y="0"/>
                </a:moveTo>
                <a:lnTo>
                  <a:pt x="10354430" y="0"/>
                </a:lnTo>
                <a:lnTo>
                  <a:pt x="10354430" y="4656864"/>
                </a:lnTo>
                <a:lnTo>
                  <a:pt x="0" y="46568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30" b="-2327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7197172" y="504448"/>
            <a:ext cx="4730567" cy="1096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8"/>
              </a:lnSpc>
            </a:pPr>
            <a:r>
              <a:rPr lang="en-US" sz="75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Job Titles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47156" y="1711339"/>
            <a:ext cx="16230600" cy="346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6" lvl="1" indent="-302258" algn="just">
              <a:lnSpc>
                <a:spcPts val="3919"/>
              </a:lnSpc>
              <a:buFont typeface="Arial"/>
              <a:buChar char="•"/>
            </a:pPr>
            <a:r>
              <a:rPr lang="en-US" sz="27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Highest Paid: </a:t>
            </a:r>
            <a:r>
              <a:rPr lang="en-US" sz="27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 Engineer, ML Engineer, Product Manager.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04516" lvl="1" indent="-302258" algn="just">
              <a:lnSpc>
                <a:spcPts val="3919"/>
              </a:lnSpc>
              <a:buFont typeface="Arial"/>
              <a:buChar char="•"/>
            </a:pPr>
            <a:r>
              <a:rPr lang="en-US" sz="27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Lowest Paid: </a:t>
            </a:r>
            <a:r>
              <a:rPr lang="en-US" sz="27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Analyst, Business Analyst.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04516" lvl="1" indent="-302258" algn="just">
              <a:lnSpc>
                <a:spcPts val="3919"/>
              </a:lnSpc>
              <a:buFont typeface="Arial"/>
              <a:buChar char="•"/>
            </a:pPr>
            <a:r>
              <a:rPr lang="en-US" sz="27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Insight: </a:t>
            </a:r>
            <a:r>
              <a:rPr lang="en-US" sz="27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Technical and leadership roles command higher compensation compared to analytical support roles.</a:t>
            </a:r>
          </a:p>
          <a:p>
            <a:pPr algn="just">
              <a:lnSpc>
                <a:spcPts val="3779"/>
              </a:lnSpc>
              <a:spcBef>
                <a:spcPct val="0"/>
              </a:spcBef>
            </a:pPr>
            <a:endParaRPr lang="en-US" sz="27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2354163" y="5520910"/>
            <a:ext cx="4905137" cy="4322652"/>
          </a:xfrm>
          <a:custGeom>
            <a:avLst/>
            <a:gdLst/>
            <a:ahLst/>
            <a:cxnLst/>
            <a:rect l="l" t="t" r="r" b="b"/>
            <a:pathLst>
              <a:path w="4905137" h="4322652">
                <a:moveTo>
                  <a:pt x="0" y="0"/>
                </a:moveTo>
                <a:lnTo>
                  <a:pt x="4905137" y="0"/>
                </a:lnTo>
                <a:lnTo>
                  <a:pt x="4905137" y="4322652"/>
                </a:lnTo>
                <a:lnTo>
                  <a:pt x="0" y="43226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8700" y="5520910"/>
            <a:ext cx="10874596" cy="4322652"/>
          </a:xfrm>
          <a:custGeom>
            <a:avLst/>
            <a:gdLst/>
            <a:ahLst/>
            <a:cxnLst/>
            <a:rect l="l" t="t" r="r" b="b"/>
            <a:pathLst>
              <a:path w="10874596" h="4322652">
                <a:moveTo>
                  <a:pt x="0" y="0"/>
                </a:moveTo>
                <a:lnTo>
                  <a:pt x="10874596" y="0"/>
                </a:lnTo>
                <a:lnTo>
                  <a:pt x="10874596" y="4322652"/>
                </a:lnTo>
                <a:lnTo>
                  <a:pt x="0" y="43226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3531473" y="500910"/>
            <a:ext cx="11225054" cy="1096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8"/>
              </a:lnSpc>
            </a:pPr>
            <a:r>
              <a:rPr lang="en-US" sz="75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Location &amp; Work Mode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1749010"/>
            <a:ext cx="16230600" cy="3543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5" lvl="1" indent="-323848" algn="just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Top Locations: </a:t>
            </a:r>
            <a:r>
              <a:rPr lang="en-US" sz="2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USA (~$182k), Canada (~$167k), UK (~$160k).</a:t>
            </a:r>
          </a:p>
          <a:p>
            <a:pPr algn="just">
              <a:lnSpc>
                <a:spcPts val="4199"/>
              </a:lnSpc>
            </a:pPr>
            <a:endParaRPr lang="en-US" sz="29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47695" lvl="1" indent="-323848" algn="just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Lowest: </a:t>
            </a:r>
            <a:r>
              <a:rPr lang="en-US" sz="2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India (~$97k).</a:t>
            </a:r>
          </a:p>
          <a:p>
            <a:pPr algn="just">
              <a:lnSpc>
                <a:spcPts val="4199"/>
              </a:lnSpc>
            </a:pPr>
            <a:endParaRPr lang="en-US" sz="29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47695" lvl="1" indent="-323848" algn="just">
              <a:lnSpc>
                <a:spcPts val="4199"/>
              </a:lnSpc>
              <a:buFont typeface="Arial"/>
              <a:buChar char="•"/>
            </a:pPr>
            <a:r>
              <a:rPr lang="en-US" sz="29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Work Mode: </a:t>
            </a:r>
            <a:r>
              <a:rPr lang="en-US" sz="2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Remote consistently pays more across regions.</a:t>
            </a:r>
          </a:p>
          <a:p>
            <a:pPr algn="just">
              <a:lnSpc>
                <a:spcPts val="3219"/>
              </a:lnSpc>
            </a:pPr>
            <a:endParaRPr lang="en-US" sz="29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47695" lvl="1" indent="-323848" algn="just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Insight: </a:t>
            </a:r>
            <a:r>
              <a:rPr lang="en-US" sz="2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Geography and flexibility strongly influence salary outcomes.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18796" y="5520910"/>
            <a:ext cx="8392653" cy="4091418"/>
          </a:xfrm>
          <a:custGeom>
            <a:avLst/>
            <a:gdLst/>
            <a:ahLst/>
            <a:cxnLst/>
            <a:rect l="l" t="t" r="r" b="b"/>
            <a:pathLst>
              <a:path w="8392653" h="4091418">
                <a:moveTo>
                  <a:pt x="0" y="0"/>
                </a:moveTo>
                <a:lnTo>
                  <a:pt x="8392653" y="0"/>
                </a:lnTo>
                <a:lnTo>
                  <a:pt x="8392653" y="4091418"/>
                </a:lnTo>
                <a:lnTo>
                  <a:pt x="0" y="4091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343367" y="5520910"/>
            <a:ext cx="8371188" cy="4091418"/>
          </a:xfrm>
          <a:custGeom>
            <a:avLst/>
            <a:gdLst/>
            <a:ahLst/>
            <a:cxnLst/>
            <a:rect l="l" t="t" r="r" b="b"/>
            <a:pathLst>
              <a:path w="8371188" h="4091418">
                <a:moveTo>
                  <a:pt x="0" y="0"/>
                </a:moveTo>
                <a:lnTo>
                  <a:pt x="8371188" y="0"/>
                </a:lnTo>
                <a:lnTo>
                  <a:pt x="8371188" y="4091418"/>
                </a:lnTo>
                <a:lnTo>
                  <a:pt x="0" y="40914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849800" y="805657"/>
            <a:ext cx="12588401" cy="2086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8"/>
              </a:lnSpc>
            </a:pPr>
            <a:r>
              <a:rPr lang="en-US" sz="75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Industry &amp; Company Size</a:t>
            </a:r>
          </a:p>
          <a:p>
            <a:pPr algn="l">
              <a:lnSpc>
                <a:spcPts val="7838"/>
              </a:lnSpc>
            </a:pPr>
            <a:endParaRPr lang="en-US" sz="7537" b="1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157095"/>
            <a:ext cx="16230600" cy="29864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6" lvl="1" indent="-302258" algn="just">
              <a:lnSpc>
                <a:spcPts val="3919"/>
              </a:lnSpc>
              <a:buFont typeface="Arial"/>
              <a:buChar char="•"/>
            </a:pPr>
            <a:r>
              <a:rPr lang="en-US" sz="27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Industry Max Salaries:</a:t>
            </a:r>
            <a:r>
              <a:rPr lang="en-US" sz="27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Consulting ($333k), Government ($329k), Technology ($327k).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04516" lvl="1" indent="-302258" algn="just">
              <a:lnSpc>
                <a:spcPts val="3919"/>
              </a:lnSpc>
              <a:buFont typeface="Arial"/>
              <a:buChar char="•"/>
            </a:pPr>
            <a:r>
              <a:rPr lang="en-US" sz="27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Company Size:</a:t>
            </a:r>
            <a:r>
              <a:rPr lang="en-US" sz="27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Enterprise (~$170k) &gt; Large (~$156k) &gt; Startup (~$127k).</a:t>
            </a:r>
          </a:p>
          <a:p>
            <a:pPr algn="just">
              <a:lnSpc>
                <a:spcPts val="3919"/>
              </a:lnSpc>
            </a:pPr>
            <a:endParaRPr lang="en-US" sz="27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04516" lvl="1" indent="-302258" algn="just">
              <a:lnSpc>
                <a:spcPts val="3919"/>
              </a:lnSpc>
              <a:buFont typeface="Arial"/>
              <a:buChar char="•"/>
            </a:pPr>
            <a:r>
              <a:rPr lang="en-US" sz="27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Insight: </a:t>
            </a:r>
            <a:r>
              <a:rPr lang="en-US" sz="27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Big firms and certain industries set higher salary ceilings.</a:t>
            </a:r>
          </a:p>
          <a:p>
            <a:pPr algn="just">
              <a:lnSpc>
                <a:spcPts val="3919"/>
              </a:lnSpc>
              <a:spcBef>
                <a:spcPct val="0"/>
              </a:spcBef>
            </a:pPr>
            <a:endParaRPr lang="en-US" sz="27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2526" y="18267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401800" y="6286500"/>
            <a:ext cx="3522881" cy="3772222"/>
          </a:xfrm>
          <a:custGeom>
            <a:avLst/>
            <a:gdLst/>
            <a:ahLst/>
            <a:cxnLst/>
            <a:rect l="l" t="t" r="r" b="b"/>
            <a:pathLst>
              <a:path w="5553836" h="5553836">
                <a:moveTo>
                  <a:pt x="0" y="0"/>
                </a:moveTo>
                <a:lnTo>
                  <a:pt x="5553836" y="0"/>
                </a:lnTo>
                <a:lnTo>
                  <a:pt x="5553836" y="5553836"/>
                </a:lnTo>
                <a:lnTo>
                  <a:pt x="0" y="5553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7" name="TextBox 7"/>
          <p:cNvSpPr txBox="1"/>
          <p:nvPr/>
        </p:nvSpPr>
        <p:spPr>
          <a:xfrm>
            <a:off x="363319" y="2288440"/>
            <a:ext cx="16916400" cy="753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Education matters everywhere: </a:t>
            </a: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Advanced degrees boost pay across all job titles, not just technical ones.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Upskilling pays off: </a:t>
            </a: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Adding more skills and certifications directly translates into higher compensation.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Experience pays steadily: </a:t>
            </a: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Salaries rise consistently with tenure, with significant gains after 10+ years of experience.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Remote work premium: </a:t>
            </a: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Remote positions consistently outpace hybrid and on‑site roles in salary.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Industry ceiling effect: </a:t>
            </a: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While averages are similar, certain industries allow standout performers to earn far above the norm.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Company size advantage: </a:t>
            </a: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Enterprise firms lead in pay, reinforcing the stability and resources of larger organizations.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endParaRPr lang="en-US" sz="3099" b="1" dirty="0">
              <a:solidFill>
                <a:srgbClr val="E4E7EB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just">
              <a:lnSpc>
                <a:spcPts val="2660"/>
              </a:lnSpc>
              <a:spcBef>
                <a:spcPct val="0"/>
              </a:spcBef>
            </a:pPr>
            <a:endParaRPr lang="en-US" sz="3099" b="1" dirty="0">
              <a:solidFill>
                <a:srgbClr val="E4E7EB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4283247" y="556007"/>
            <a:ext cx="9696450" cy="1020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831"/>
              </a:lnSpc>
            </a:pPr>
            <a:r>
              <a:rPr lang="en-US" sz="753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Significant Insights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92B02-495D-6FF3-E813-0C7C3BDE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CBBD6D5-8BB6-0297-90A7-B38D113EDB5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6B3E9D2-ABCE-522F-5200-5D6FC8346DBA}"/>
              </a:ext>
            </a:extLst>
          </p:cNvPr>
          <p:cNvGrpSpPr/>
          <p:nvPr/>
        </p:nvGrpSpPr>
        <p:grpSpPr>
          <a:xfrm>
            <a:off x="-12526" y="18267"/>
            <a:ext cx="18288000" cy="10287000"/>
            <a:chOff x="0" y="0"/>
            <a:chExt cx="4816593" cy="270933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A240779-CD78-0908-8C63-65ED516DE241}"/>
                </a:ext>
              </a:extLst>
            </p:cNvPr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70D32">
                    <a:alpha val="86000"/>
                  </a:srgbClr>
                </a:gs>
                <a:gs pos="100000">
                  <a:srgbClr val="001496">
                    <a:alpha val="86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5BD45A32-0D09-A1A7-00C1-A0578F81AD87}"/>
                </a:ext>
              </a:extLst>
            </p:cNvPr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540A31D2-E8FA-6B7F-9C5F-C1E0D2664E12}"/>
              </a:ext>
            </a:extLst>
          </p:cNvPr>
          <p:cNvSpPr/>
          <p:nvPr/>
        </p:nvSpPr>
        <p:spPr>
          <a:xfrm>
            <a:off x="11593477" y="3090277"/>
            <a:ext cx="5553836" cy="5553836"/>
          </a:xfrm>
          <a:custGeom>
            <a:avLst/>
            <a:gdLst/>
            <a:ahLst/>
            <a:cxnLst/>
            <a:rect l="l" t="t" r="r" b="b"/>
            <a:pathLst>
              <a:path w="5553836" h="5553836">
                <a:moveTo>
                  <a:pt x="0" y="0"/>
                </a:moveTo>
                <a:lnTo>
                  <a:pt x="5553836" y="0"/>
                </a:lnTo>
                <a:lnTo>
                  <a:pt x="5553836" y="5553836"/>
                </a:lnTo>
                <a:lnTo>
                  <a:pt x="0" y="5553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6A4E1AA-B21A-5A86-5CB1-BC78C81EA334}"/>
              </a:ext>
            </a:extLst>
          </p:cNvPr>
          <p:cNvSpPr txBox="1"/>
          <p:nvPr/>
        </p:nvSpPr>
        <p:spPr>
          <a:xfrm>
            <a:off x="762000" y="2681720"/>
            <a:ext cx="9778477" cy="69881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34643" lvl="1" algn="just">
              <a:lnSpc>
                <a:spcPts val="4339"/>
              </a:lnSpc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For professionals: </a:t>
            </a:r>
          </a:p>
          <a:p>
            <a:pPr marL="334643" lvl="1" algn="just">
              <a:lnSpc>
                <a:spcPts val="4339"/>
              </a:lnSpc>
            </a:pPr>
            <a:endParaRPr lang="en-US" sz="3099" b="1" dirty="0">
              <a:solidFill>
                <a:schemeClr val="accent3">
                  <a:lumMod val="75000"/>
                </a:schemeClr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334643" lvl="1" algn="just">
              <a:lnSpc>
                <a:spcPts val="4339"/>
              </a:lnSpc>
            </a:pP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Invest in advanced degrees, certifications, and continuous skill development to maximize earning potential.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endParaRPr lang="en-US" sz="3099" b="1" dirty="0">
              <a:solidFill>
                <a:srgbClr val="E4E7EB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334643" lvl="1" algn="just">
              <a:lnSpc>
                <a:spcPts val="4339"/>
              </a:lnSpc>
            </a:pPr>
            <a:endParaRPr lang="en-US" sz="3099" b="1" dirty="0">
              <a:solidFill>
                <a:srgbClr val="E4E7EB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334643" lvl="1" algn="just">
              <a:lnSpc>
                <a:spcPts val="4339"/>
              </a:lnSpc>
            </a:pPr>
            <a:r>
              <a:rPr lang="en-US" sz="3099" b="1" dirty="0">
                <a:solidFill>
                  <a:schemeClr val="accent3">
                    <a:lumMod val="75000"/>
                  </a:schemeClr>
                </a:solidFill>
                <a:latin typeface="Poppins Bold"/>
                <a:ea typeface="Poppins Bold"/>
                <a:cs typeface="Poppins Bold"/>
                <a:sym typeface="Poppins Bold"/>
              </a:rPr>
              <a:t>For recruiters/companies: </a:t>
            </a:r>
          </a:p>
          <a:p>
            <a:pPr marL="334643" lvl="1" algn="just">
              <a:lnSpc>
                <a:spcPts val="4339"/>
              </a:lnSpc>
            </a:pPr>
            <a:endParaRPr lang="en-US" sz="3099" b="1" dirty="0">
              <a:solidFill>
                <a:schemeClr val="accent3">
                  <a:lumMod val="75000"/>
                </a:schemeClr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334643" lvl="1" algn="just">
              <a:lnSpc>
                <a:spcPts val="4339"/>
              </a:lnSpc>
            </a:pPr>
            <a:r>
              <a:rPr lang="en-US" sz="3099" b="1" dirty="0">
                <a:solidFill>
                  <a:srgbClr val="E4E7EB"/>
                </a:solidFill>
                <a:latin typeface="Poppins Bold"/>
                <a:ea typeface="Poppins Bold"/>
                <a:cs typeface="Poppins Bold"/>
                <a:sym typeface="Poppins Bold"/>
              </a:rPr>
              <a:t>Emphasize remote flexibility and upskilling opportunities to attract top talent.</a:t>
            </a:r>
          </a:p>
          <a:p>
            <a:pPr marL="669285" lvl="1" indent="-334642" algn="just">
              <a:lnSpc>
                <a:spcPts val="4339"/>
              </a:lnSpc>
              <a:buFont typeface="Arial"/>
              <a:buChar char="•"/>
            </a:pPr>
            <a:endParaRPr lang="en-US" sz="3099" b="1" dirty="0">
              <a:solidFill>
                <a:srgbClr val="E4E7EB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just">
              <a:lnSpc>
                <a:spcPts val="2660"/>
              </a:lnSpc>
              <a:spcBef>
                <a:spcPct val="0"/>
              </a:spcBef>
            </a:pPr>
            <a:endParaRPr lang="en-US" sz="3099" b="1" dirty="0">
              <a:solidFill>
                <a:srgbClr val="E4E7EB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3FED550-0FB6-DA37-ACEA-1EE6B655D3F0}"/>
              </a:ext>
            </a:extLst>
          </p:cNvPr>
          <p:cNvSpPr txBox="1"/>
          <p:nvPr/>
        </p:nvSpPr>
        <p:spPr>
          <a:xfrm>
            <a:off x="1409700" y="1043972"/>
            <a:ext cx="15468600" cy="1020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831"/>
              </a:lnSpc>
            </a:pPr>
            <a:r>
              <a:rPr lang="en-US" sz="753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 / Next Steps</a:t>
            </a:r>
          </a:p>
        </p:txBody>
      </p:sp>
    </p:spTree>
    <p:extLst>
      <p:ext uri="{BB962C8B-B14F-4D97-AF65-F5344CB8AC3E}">
        <p14:creationId xmlns:p14="http://schemas.microsoft.com/office/powerpoint/2010/main" val="31116122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00D1FF">
                    <a:alpha val="86000"/>
                  </a:srgbClr>
                </a:gs>
                <a:gs pos="50000">
                  <a:srgbClr val="001496">
                    <a:alpha val="86000"/>
                  </a:srgbClr>
                </a:gs>
                <a:gs pos="100000">
                  <a:srgbClr val="000F70">
                    <a:alpha val="86000"/>
                  </a:srgbClr>
                </a:gs>
              </a:gsLst>
              <a:path path="circle">
                <a:fillToRect l="50000" t="50000" r="50000" b="50000"/>
              </a:path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</a:pPr>
              <a:endParaRPr/>
            </a:p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722342" y="672469"/>
            <a:ext cx="530888" cy="617312"/>
          </a:xfrm>
          <a:custGeom>
            <a:avLst/>
            <a:gdLst/>
            <a:ahLst/>
            <a:cxnLst/>
            <a:rect l="l" t="t" r="r" b="b"/>
            <a:pathLst>
              <a:path w="530888" h="617312">
                <a:moveTo>
                  <a:pt x="0" y="0"/>
                </a:moveTo>
                <a:lnTo>
                  <a:pt x="530888" y="0"/>
                </a:lnTo>
                <a:lnTo>
                  <a:pt x="530888" y="617312"/>
                </a:lnTo>
                <a:lnTo>
                  <a:pt x="0" y="6173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839908" y="2165933"/>
            <a:ext cx="6608184" cy="6602071"/>
          </a:xfrm>
          <a:custGeom>
            <a:avLst/>
            <a:gdLst/>
            <a:ahLst/>
            <a:cxnLst/>
            <a:rect l="l" t="t" r="r" b="b"/>
            <a:pathLst>
              <a:path w="6608184" h="6602071">
                <a:moveTo>
                  <a:pt x="0" y="0"/>
                </a:moveTo>
                <a:lnTo>
                  <a:pt x="6608184" y="0"/>
                </a:lnTo>
                <a:lnTo>
                  <a:pt x="6608184" y="6602071"/>
                </a:lnTo>
                <a:lnTo>
                  <a:pt x="0" y="66020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36575" y="691565"/>
            <a:ext cx="3402138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FFFFF"/>
                </a:solidFill>
                <a:latin typeface="Poppins Ultra-Bold"/>
                <a:ea typeface="Poppins Ultra-Bold"/>
                <a:cs typeface="Poppins Ultra-Bold"/>
                <a:sym typeface="Poppins Ultra-Bold"/>
              </a:rPr>
              <a:t>NISSY JIJU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45183" y="4503839"/>
            <a:ext cx="12597633" cy="1326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14"/>
              </a:lnSpc>
            </a:pPr>
            <a:r>
              <a:rPr lang="en-US" sz="9052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8797224"/>
            <a:ext cx="6606449" cy="451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1"/>
              </a:lnSpc>
            </a:pPr>
            <a:r>
              <a:rPr lang="en-US" sz="2472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GitHub:https://github.com/NISSYJIJU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11960" y="8797224"/>
            <a:ext cx="4747340" cy="451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61"/>
              </a:lnSpc>
            </a:pPr>
            <a:r>
              <a:rPr lang="en-US" sz="2472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nissyjijugr8@gmail.com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96029" y="8806749"/>
            <a:ext cx="1274721" cy="451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1"/>
              </a:lnSpc>
            </a:pPr>
            <a:r>
              <a:rPr lang="en-US" sz="2472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929</Words>
  <Application>Microsoft Office PowerPoint</Application>
  <PresentationFormat>Custom</PresentationFormat>
  <Paragraphs>127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Poppins Ultra-Bold</vt:lpstr>
      <vt:lpstr>Calibri</vt:lpstr>
      <vt:lpstr>Poppins Bold</vt:lpstr>
      <vt:lpstr>Atkinson Hyperlegible Bold</vt:lpstr>
      <vt:lpstr>Poppins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White Modern Data Analysis Presentation</dc:title>
  <dc:creator>Nighil Jiju</dc:creator>
  <cp:lastModifiedBy>Nighil Jiju</cp:lastModifiedBy>
  <cp:revision>4</cp:revision>
  <dcterms:created xsi:type="dcterms:W3CDTF">2006-08-16T00:00:00Z</dcterms:created>
  <dcterms:modified xsi:type="dcterms:W3CDTF">2026-04-08T13:31:17Z</dcterms:modified>
  <dc:identifier>DAHFMhesJN8</dc:identifier>
</cp:coreProperties>
</file>